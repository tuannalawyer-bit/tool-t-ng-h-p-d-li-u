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81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2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jp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4694971"/>
            <a:ext cx="9143999" cy="44852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1309687"/>
            <a:ext cx="9143999" cy="38336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2000250"/>
            <a:ext cx="9143999" cy="314324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7000" y="238125"/>
            <a:ext cx="2285999" cy="333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8800" y="1313672"/>
            <a:ext cx="6335395" cy="1097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27" cy="36646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4694971"/>
            <a:ext cx="9143999" cy="44852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221951"/>
            <a:ext cx="1567927" cy="857951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-4" y="402926"/>
            <a:ext cx="1368425" cy="458470"/>
          </a:xfrm>
          <a:custGeom>
            <a:avLst/>
            <a:gdLst/>
            <a:ahLst/>
            <a:cxnLst/>
            <a:rect l="l" t="t" r="r" b="b"/>
            <a:pathLst>
              <a:path w="1368425" h="458469">
                <a:moveTo>
                  <a:pt x="695476" y="457901"/>
                </a:moveTo>
                <a:lnTo>
                  <a:pt x="0" y="457901"/>
                </a:lnTo>
                <a:lnTo>
                  <a:pt x="0" y="447030"/>
                </a:lnTo>
                <a:lnTo>
                  <a:pt x="690983" y="447030"/>
                </a:lnTo>
                <a:lnTo>
                  <a:pt x="1112502" y="25511"/>
                </a:lnTo>
                <a:lnTo>
                  <a:pt x="1306447" y="25511"/>
                </a:lnTo>
                <a:lnTo>
                  <a:pt x="1310184" y="15471"/>
                </a:lnTo>
                <a:lnTo>
                  <a:pt x="1316992" y="7374"/>
                </a:lnTo>
                <a:lnTo>
                  <a:pt x="1326138" y="1968"/>
                </a:lnTo>
                <a:lnTo>
                  <a:pt x="1336887" y="0"/>
                </a:lnTo>
                <a:lnTo>
                  <a:pt x="1348949" y="2439"/>
                </a:lnTo>
                <a:lnTo>
                  <a:pt x="1358810" y="9077"/>
                </a:lnTo>
                <a:lnTo>
                  <a:pt x="1360026" y="10871"/>
                </a:lnTo>
                <a:lnTo>
                  <a:pt x="1327755" y="10871"/>
                </a:lnTo>
                <a:lnTo>
                  <a:pt x="1319928" y="17103"/>
                </a:lnTo>
                <a:lnTo>
                  <a:pt x="1317754" y="25511"/>
                </a:lnTo>
                <a:lnTo>
                  <a:pt x="1317174" y="27250"/>
                </a:lnTo>
                <a:lnTo>
                  <a:pt x="1316883" y="28990"/>
                </a:lnTo>
                <a:lnTo>
                  <a:pt x="1316883" y="32758"/>
                </a:lnTo>
                <a:lnTo>
                  <a:pt x="1317174" y="34643"/>
                </a:lnTo>
                <a:lnTo>
                  <a:pt x="1317754" y="36383"/>
                </a:lnTo>
                <a:lnTo>
                  <a:pt x="1116996" y="36383"/>
                </a:lnTo>
                <a:lnTo>
                  <a:pt x="695476" y="457901"/>
                </a:lnTo>
                <a:close/>
              </a:path>
              <a:path w="1368425" h="458469">
                <a:moveTo>
                  <a:pt x="1360009" y="51022"/>
                </a:moveTo>
                <a:lnTo>
                  <a:pt x="1336887" y="51022"/>
                </a:lnTo>
                <a:lnTo>
                  <a:pt x="1344744" y="49444"/>
                </a:lnTo>
                <a:lnTo>
                  <a:pt x="1351146" y="45133"/>
                </a:lnTo>
                <a:lnTo>
                  <a:pt x="1355456" y="38730"/>
                </a:lnTo>
                <a:lnTo>
                  <a:pt x="1357034" y="30874"/>
                </a:lnTo>
                <a:lnTo>
                  <a:pt x="1355456" y="23101"/>
                </a:lnTo>
                <a:lnTo>
                  <a:pt x="1351146" y="16741"/>
                </a:lnTo>
                <a:lnTo>
                  <a:pt x="1344744" y="12447"/>
                </a:lnTo>
                <a:lnTo>
                  <a:pt x="1336887" y="10871"/>
                </a:lnTo>
                <a:lnTo>
                  <a:pt x="1360026" y="10871"/>
                </a:lnTo>
                <a:lnTo>
                  <a:pt x="1365465" y="18895"/>
                </a:lnTo>
                <a:lnTo>
                  <a:pt x="1367906" y="30874"/>
                </a:lnTo>
                <a:lnTo>
                  <a:pt x="1365465" y="42937"/>
                </a:lnTo>
                <a:lnTo>
                  <a:pt x="1360009" y="51022"/>
                </a:lnTo>
                <a:close/>
              </a:path>
              <a:path w="1368425" h="458469">
                <a:moveTo>
                  <a:pt x="1336887" y="61894"/>
                </a:moveTo>
                <a:lnTo>
                  <a:pt x="1326138" y="59946"/>
                </a:lnTo>
                <a:lnTo>
                  <a:pt x="1316992" y="54574"/>
                </a:lnTo>
                <a:lnTo>
                  <a:pt x="1310184" y="46484"/>
                </a:lnTo>
                <a:lnTo>
                  <a:pt x="1306447" y="36383"/>
                </a:lnTo>
                <a:lnTo>
                  <a:pt x="1317754" y="36383"/>
                </a:lnTo>
                <a:lnTo>
                  <a:pt x="1320073" y="44934"/>
                </a:lnTo>
                <a:lnTo>
                  <a:pt x="1327755" y="51022"/>
                </a:lnTo>
                <a:lnTo>
                  <a:pt x="1360009" y="51022"/>
                </a:lnTo>
                <a:lnTo>
                  <a:pt x="1358810" y="52798"/>
                </a:lnTo>
                <a:lnTo>
                  <a:pt x="1348949" y="59453"/>
                </a:lnTo>
                <a:lnTo>
                  <a:pt x="1336887" y="618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7651" y="136140"/>
            <a:ext cx="1069725" cy="627044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877677" y="317115"/>
            <a:ext cx="669925" cy="227329"/>
          </a:xfrm>
          <a:custGeom>
            <a:avLst/>
            <a:gdLst/>
            <a:ahLst/>
            <a:cxnLst/>
            <a:rect l="l" t="t" r="r" b="b"/>
            <a:pathLst>
              <a:path w="669925" h="227329">
                <a:moveTo>
                  <a:pt x="54646" y="180030"/>
                </a:moveTo>
                <a:lnTo>
                  <a:pt x="39282" y="180030"/>
                </a:lnTo>
                <a:lnTo>
                  <a:pt x="193799" y="25511"/>
                </a:lnTo>
                <a:lnTo>
                  <a:pt x="608216" y="25511"/>
                </a:lnTo>
                <a:lnTo>
                  <a:pt x="611953" y="15471"/>
                </a:lnTo>
                <a:lnTo>
                  <a:pt x="618761" y="7374"/>
                </a:lnTo>
                <a:lnTo>
                  <a:pt x="627906" y="1968"/>
                </a:lnTo>
                <a:lnTo>
                  <a:pt x="638655" y="0"/>
                </a:lnTo>
                <a:lnTo>
                  <a:pt x="650718" y="2439"/>
                </a:lnTo>
                <a:lnTo>
                  <a:pt x="660579" y="9077"/>
                </a:lnTo>
                <a:lnTo>
                  <a:pt x="661893" y="11016"/>
                </a:lnTo>
                <a:lnTo>
                  <a:pt x="629524" y="11016"/>
                </a:lnTo>
                <a:lnTo>
                  <a:pt x="621696" y="17249"/>
                </a:lnTo>
                <a:lnTo>
                  <a:pt x="619559" y="25511"/>
                </a:lnTo>
                <a:lnTo>
                  <a:pt x="618941" y="27395"/>
                </a:lnTo>
                <a:lnTo>
                  <a:pt x="618652" y="29134"/>
                </a:lnTo>
                <a:lnTo>
                  <a:pt x="618652" y="32904"/>
                </a:lnTo>
                <a:lnTo>
                  <a:pt x="618941" y="34788"/>
                </a:lnTo>
                <a:lnTo>
                  <a:pt x="619473" y="36383"/>
                </a:lnTo>
                <a:lnTo>
                  <a:pt x="198293" y="36383"/>
                </a:lnTo>
                <a:lnTo>
                  <a:pt x="54646" y="180030"/>
                </a:lnTo>
                <a:close/>
              </a:path>
              <a:path w="669925" h="227329">
                <a:moveTo>
                  <a:pt x="661680" y="51167"/>
                </a:moveTo>
                <a:lnTo>
                  <a:pt x="638655" y="51167"/>
                </a:lnTo>
                <a:lnTo>
                  <a:pt x="646512" y="49588"/>
                </a:lnTo>
                <a:lnTo>
                  <a:pt x="652915" y="45279"/>
                </a:lnTo>
                <a:lnTo>
                  <a:pt x="657225" y="38876"/>
                </a:lnTo>
                <a:lnTo>
                  <a:pt x="658803" y="31020"/>
                </a:lnTo>
                <a:lnTo>
                  <a:pt x="657225" y="23247"/>
                </a:lnTo>
                <a:lnTo>
                  <a:pt x="652915" y="16887"/>
                </a:lnTo>
                <a:lnTo>
                  <a:pt x="646512" y="12592"/>
                </a:lnTo>
                <a:lnTo>
                  <a:pt x="638655" y="11016"/>
                </a:lnTo>
                <a:lnTo>
                  <a:pt x="661893" y="11016"/>
                </a:lnTo>
                <a:lnTo>
                  <a:pt x="667234" y="18895"/>
                </a:lnTo>
                <a:lnTo>
                  <a:pt x="669675" y="30874"/>
                </a:lnTo>
                <a:lnTo>
                  <a:pt x="667234" y="42937"/>
                </a:lnTo>
                <a:lnTo>
                  <a:pt x="661680" y="51167"/>
                </a:lnTo>
                <a:close/>
              </a:path>
              <a:path w="669925" h="227329">
                <a:moveTo>
                  <a:pt x="638655" y="61894"/>
                </a:moveTo>
                <a:lnTo>
                  <a:pt x="608269" y="36527"/>
                </a:lnTo>
                <a:lnTo>
                  <a:pt x="608216" y="36383"/>
                </a:lnTo>
                <a:lnTo>
                  <a:pt x="619473" y="36383"/>
                </a:lnTo>
                <a:lnTo>
                  <a:pt x="621840" y="45080"/>
                </a:lnTo>
                <a:lnTo>
                  <a:pt x="629524" y="51167"/>
                </a:lnTo>
                <a:lnTo>
                  <a:pt x="661680" y="51167"/>
                </a:lnTo>
                <a:lnTo>
                  <a:pt x="660579" y="52798"/>
                </a:lnTo>
                <a:lnTo>
                  <a:pt x="650718" y="59453"/>
                </a:lnTo>
                <a:lnTo>
                  <a:pt x="638655" y="61894"/>
                </a:lnTo>
                <a:close/>
              </a:path>
              <a:path w="669925" h="227329">
                <a:moveTo>
                  <a:pt x="25511" y="226994"/>
                </a:moveTo>
                <a:lnTo>
                  <a:pt x="15593" y="224985"/>
                </a:lnTo>
                <a:lnTo>
                  <a:pt x="7483" y="219511"/>
                </a:lnTo>
                <a:lnTo>
                  <a:pt x="2008" y="211400"/>
                </a:lnTo>
                <a:lnTo>
                  <a:pt x="0" y="201481"/>
                </a:lnTo>
                <a:lnTo>
                  <a:pt x="2008" y="191564"/>
                </a:lnTo>
                <a:lnTo>
                  <a:pt x="7483" y="183454"/>
                </a:lnTo>
                <a:lnTo>
                  <a:pt x="15593" y="177980"/>
                </a:lnTo>
                <a:lnTo>
                  <a:pt x="25511" y="175971"/>
                </a:lnTo>
                <a:lnTo>
                  <a:pt x="30585" y="175971"/>
                </a:lnTo>
                <a:lnTo>
                  <a:pt x="35223" y="177420"/>
                </a:lnTo>
                <a:lnTo>
                  <a:pt x="39282" y="180030"/>
                </a:lnTo>
                <a:lnTo>
                  <a:pt x="54646" y="180030"/>
                </a:lnTo>
                <a:lnTo>
                  <a:pt x="46964" y="187712"/>
                </a:lnTo>
                <a:lnTo>
                  <a:pt x="49531" y="191564"/>
                </a:lnTo>
                <a:lnTo>
                  <a:pt x="51022" y="196409"/>
                </a:lnTo>
                <a:lnTo>
                  <a:pt x="51022" y="201481"/>
                </a:lnTo>
                <a:lnTo>
                  <a:pt x="49013" y="211400"/>
                </a:lnTo>
                <a:lnTo>
                  <a:pt x="43539" y="219511"/>
                </a:lnTo>
                <a:lnTo>
                  <a:pt x="35429" y="224985"/>
                </a:lnTo>
                <a:lnTo>
                  <a:pt x="25511" y="22699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4525"/>
            <a:ext cx="1542415" cy="992031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59442" y="195500"/>
            <a:ext cx="1183005" cy="592455"/>
          </a:xfrm>
          <a:custGeom>
            <a:avLst/>
            <a:gdLst/>
            <a:ahLst/>
            <a:cxnLst/>
            <a:rect l="l" t="t" r="r" b="b"/>
            <a:pathLst>
              <a:path w="1183005" h="592455">
                <a:moveTo>
                  <a:pt x="522274" y="555598"/>
                </a:moveTo>
                <a:lnTo>
                  <a:pt x="506894" y="555598"/>
                </a:lnTo>
                <a:lnTo>
                  <a:pt x="609955" y="452683"/>
                </a:lnTo>
                <a:lnTo>
                  <a:pt x="609955" y="287583"/>
                </a:lnTo>
                <a:lnTo>
                  <a:pt x="872027" y="25366"/>
                </a:lnTo>
                <a:lnTo>
                  <a:pt x="1121489" y="25366"/>
                </a:lnTo>
                <a:lnTo>
                  <a:pt x="1125228" y="15288"/>
                </a:lnTo>
                <a:lnTo>
                  <a:pt x="1132052" y="7247"/>
                </a:lnTo>
                <a:lnTo>
                  <a:pt x="1141241" y="1925"/>
                </a:lnTo>
                <a:lnTo>
                  <a:pt x="1152074" y="0"/>
                </a:lnTo>
                <a:lnTo>
                  <a:pt x="1164052" y="2418"/>
                </a:lnTo>
                <a:lnTo>
                  <a:pt x="1173870" y="9023"/>
                </a:lnTo>
                <a:lnTo>
                  <a:pt x="1175121" y="10871"/>
                </a:lnTo>
                <a:lnTo>
                  <a:pt x="1142797" y="10871"/>
                </a:lnTo>
                <a:lnTo>
                  <a:pt x="1135115" y="16958"/>
                </a:lnTo>
                <a:lnTo>
                  <a:pt x="1132795" y="25366"/>
                </a:lnTo>
                <a:lnTo>
                  <a:pt x="1132216" y="27106"/>
                </a:lnTo>
                <a:lnTo>
                  <a:pt x="1131925" y="28990"/>
                </a:lnTo>
                <a:lnTo>
                  <a:pt x="1131925" y="32758"/>
                </a:lnTo>
                <a:lnTo>
                  <a:pt x="1132216" y="34497"/>
                </a:lnTo>
                <a:lnTo>
                  <a:pt x="1132795" y="36238"/>
                </a:lnTo>
                <a:lnTo>
                  <a:pt x="876521" y="36238"/>
                </a:lnTo>
                <a:lnTo>
                  <a:pt x="620827" y="292077"/>
                </a:lnTo>
                <a:lnTo>
                  <a:pt x="620827" y="457175"/>
                </a:lnTo>
                <a:lnTo>
                  <a:pt x="522274" y="555598"/>
                </a:lnTo>
                <a:close/>
              </a:path>
              <a:path w="1183005" h="592455">
                <a:moveTo>
                  <a:pt x="1175082" y="50878"/>
                </a:moveTo>
                <a:lnTo>
                  <a:pt x="1152074" y="50878"/>
                </a:lnTo>
                <a:lnTo>
                  <a:pt x="1159847" y="49301"/>
                </a:lnTo>
                <a:lnTo>
                  <a:pt x="1166207" y="45007"/>
                </a:lnTo>
                <a:lnTo>
                  <a:pt x="1170501" y="38647"/>
                </a:lnTo>
                <a:lnTo>
                  <a:pt x="1172078" y="30874"/>
                </a:lnTo>
                <a:lnTo>
                  <a:pt x="1170501" y="23101"/>
                </a:lnTo>
                <a:lnTo>
                  <a:pt x="1166207" y="16741"/>
                </a:lnTo>
                <a:lnTo>
                  <a:pt x="1159847" y="12447"/>
                </a:lnTo>
                <a:lnTo>
                  <a:pt x="1152074" y="10871"/>
                </a:lnTo>
                <a:lnTo>
                  <a:pt x="1175121" y="10871"/>
                </a:lnTo>
                <a:lnTo>
                  <a:pt x="1180509" y="18834"/>
                </a:lnTo>
                <a:lnTo>
                  <a:pt x="1182948" y="30874"/>
                </a:lnTo>
                <a:lnTo>
                  <a:pt x="1180509" y="42852"/>
                </a:lnTo>
                <a:lnTo>
                  <a:pt x="1175082" y="50878"/>
                </a:lnTo>
                <a:close/>
              </a:path>
              <a:path w="1183005" h="592455">
                <a:moveTo>
                  <a:pt x="1152074" y="61748"/>
                </a:moveTo>
                <a:lnTo>
                  <a:pt x="1141241" y="59780"/>
                </a:lnTo>
                <a:lnTo>
                  <a:pt x="1132052" y="54374"/>
                </a:lnTo>
                <a:lnTo>
                  <a:pt x="1125228" y="46278"/>
                </a:lnTo>
                <a:lnTo>
                  <a:pt x="1121489" y="36238"/>
                </a:lnTo>
                <a:lnTo>
                  <a:pt x="1132795" y="36238"/>
                </a:lnTo>
                <a:lnTo>
                  <a:pt x="1134970" y="44645"/>
                </a:lnTo>
                <a:lnTo>
                  <a:pt x="1142797" y="50878"/>
                </a:lnTo>
                <a:lnTo>
                  <a:pt x="1175082" y="50878"/>
                </a:lnTo>
                <a:lnTo>
                  <a:pt x="1173870" y="52671"/>
                </a:lnTo>
                <a:lnTo>
                  <a:pt x="1164052" y="59309"/>
                </a:lnTo>
                <a:lnTo>
                  <a:pt x="1152074" y="61748"/>
                </a:lnTo>
                <a:close/>
              </a:path>
              <a:path w="1183005" h="592455">
                <a:moveTo>
                  <a:pt x="30874" y="591981"/>
                </a:moveTo>
                <a:lnTo>
                  <a:pt x="18834" y="589542"/>
                </a:lnTo>
                <a:lnTo>
                  <a:pt x="9023" y="582904"/>
                </a:lnTo>
                <a:lnTo>
                  <a:pt x="2418" y="573085"/>
                </a:lnTo>
                <a:lnTo>
                  <a:pt x="0" y="561107"/>
                </a:lnTo>
                <a:lnTo>
                  <a:pt x="2418" y="549044"/>
                </a:lnTo>
                <a:lnTo>
                  <a:pt x="9023" y="539182"/>
                </a:lnTo>
                <a:lnTo>
                  <a:pt x="18834" y="532528"/>
                </a:lnTo>
                <a:lnTo>
                  <a:pt x="30874" y="530086"/>
                </a:lnTo>
                <a:lnTo>
                  <a:pt x="41684" y="532034"/>
                </a:lnTo>
                <a:lnTo>
                  <a:pt x="50823" y="537406"/>
                </a:lnTo>
                <a:lnTo>
                  <a:pt x="53797" y="540958"/>
                </a:lnTo>
                <a:lnTo>
                  <a:pt x="30874" y="540958"/>
                </a:lnTo>
                <a:lnTo>
                  <a:pt x="23101" y="542537"/>
                </a:lnTo>
                <a:lnTo>
                  <a:pt x="16741" y="546847"/>
                </a:lnTo>
                <a:lnTo>
                  <a:pt x="12447" y="553250"/>
                </a:lnTo>
                <a:lnTo>
                  <a:pt x="10871" y="561107"/>
                </a:lnTo>
                <a:lnTo>
                  <a:pt x="12447" y="568880"/>
                </a:lnTo>
                <a:lnTo>
                  <a:pt x="16741" y="575239"/>
                </a:lnTo>
                <a:lnTo>
                  <a:pt x="23101" y="579533"/>
                </a:lnTo>
                <a:lnTo>
                  <a:pt x="30874" y="581109"/>
                </a:lnTo>
                <a:lnTo>
                  <a:pt x="53749" y="581109"/>
                </a:lnTo>
                <a:lnTo>
                  <a:pt x="50823" y="584607"/>
                </a:lnTo>
                <a:lnTo>
                  <a:pt x="41684" y="590013"/>
                </a:lnTo>
                <a:lnTo>
                  <a:pt x="30874" y="591981"/>
                </a:lnTo>
                <a:close/>
              </a:path>
              <a:path w="1183005" h="592455">
                <a:moveTo>
                  <a:pt x="53749" y="581109"/>
                </a:moveTo>
                <a:lnTo>
                  <a:pt x="40006" y="581109"/>
                </a:lnTo>
                <a:lnTo>
                  <a:pt x="47833" y="574876"/>
                </a:lnTo>
                <a:lnTo>
                  <a:pt x="50007" y="566470"/>
                </a:lnTo>
                <a:lnTo>
                  <a:pt x="50587" y="564730"/>
                </a:lnTo>
                <a:lnTo>
                  <a:pt x="50878" y="562991"/>
                </a:lnTo>
                <a:lnTo>
                  <a:pt x="50878" y="559221"/>
                </a:lnTo>
                <a:lnTo>
                  <a:pt x="50587" y="557337"/>
                </a:lnTo>
                <a:lnTo>
                  <a:pt x="50007" y="555598"/>
                </a:lnTo>
                <a:lnTo>
                  <a:pt x="47688" y="547045"/>
                </a:lnTo>
                <a:lnTo>
                  <a:pt x="40006" y="540958"/>
                </a:lnTo>
                <a:lnTo>
                  <a:pt x="53797" y="540958"/>
                </a:lnTo>
                <a:lnTo>
                  <a:pt x="57597" y="545497"/>
                </a:lnTo>
                <a:lnTo>
                  <a:pt x="61314" y="555598"/>
                </a:lnTo>
                <a:lnTo>
                  <a:pt x="522274" y="555598"/>
                </a:lnTo>
                <a:lnTo>
                  <a:pt x="511388" y="566470"/>
                </a:lnTo>
                <a:lnTo>
                  <a:pt x="61314" y="566470"/>
                </a:lnTo>
                <a:lnTo>
                  <a:pt x="57597" y="576510"/>
                </a:lnTo>
                <a:lnTo>
                  <a:pt x="53749" y="581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791029"/>
            <a:ext cx="2241372" cy="806349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-4" y="972004"/>
            <a:ext cx="2041525" cy="406400"/>
          </a:xfrm>
          <a:custGeom>
            <a:avLst/>
            <a:gdLst/>
            <a:ahLst/>
            <a:cxnLst/>
            <a:rect l="l" t="t" r="r" b="b"/>
            <a:pathLst>
              <a:path w="2041525" h="406400">
                <a:moveTo>
                  <a:pt x="1133085" y="406299"/>
                </a:moveTo>
                <a:lnTo>
                  <a:pt x="0" y="406299"/>
                </a:lnTo>
                <a:lnTo>
                  <a:pt x="0" y="395427"/>
                </a:lnTo>
                <a:lnTo>
                  <a:pt x="1128592" y="395427"/>
                </a:lnTo>
                <a:lnTo>
                  <a:pt x="1504016" y="20004"/>
                </a:lnTo>
                <a:lnTo>
                  <a:pt x="1990908" y="20004"/>
                </a:lnTo>
                <a:lnTo>
                  <a:pt x="1994111" y="12047"/>
                </a:lnTo>
                <a:lnTo>
                  <a:pt x="1999678" y="5707"/>
                </a:lnTo>
                <a:lnTo>
                  <a:pt x="2007093" y="1515"/>
                </a:lnTo>
                <a:lnTo>
                  <a:pt x="2015840" y="0"/>
                </a:lnTo>
                <a:lnTo>
                  <a:pt x="2025757" y="2008"/>
                </a:lnTo>
                <a:lnTo>
                  <a:pt x="2033868" y="7483"/>
                </a:lnTo>
                <a:lnTo>
                  <a:pt x="2039342" y="15593"/>
                </a:lnTo>
                <a:lnTo>
                  <a:pt x="2041351" y="25511"/>
                </a:lnTo>
                <a:lnTo>
                  <a:pt x="2039342" y="35429"/>
                </a:lnTo>
                <a:lnTo>
                  <a:pt x="2033868" y="43539"/>
                </a:lnTo>
                <a:lnTo>
                  <a:pt x="2025757" y="49014"/>
                </a:lnTo>
                <a:lnTo>
                  <a:pt x="2015840" y="51022"/>
                </a:lnTo>
                <a:lnTo>
                  <a:pt x="2007174" y="49507"/>
                </a:lnTo>
                <a:lnTo>
                  <a:pt x="1999786" y="45315"/>
                </a:lnTo>
                <a:lnTo>
                  <a:pt x="1994192" y="38976"/>
                </a:lnTo>
                <a:lnTo>
                  <a:pt x="1990908" y="31020"/>
                </a:lnTo>
                <a:lnTo>
                  <a:pt x="1508510" y="31020"/>
                </a:lnTo>
                <a:lnTo>
                  <a:pt x="1133085" y="406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418794"/>
            <a:ext cx="2577369" cy="964636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-4" y="599769"/>
            <a:ext cx="2377440" cy="565150"/>
          </a:xfrm>
          <a:custGeom>
            <a:avLst/>
            <a:gdLst/>
            <a:ahLst/>
            <a:cxnLst/>
            <a:rect l="l" t="t" r="r" b="b"/>
            <a:pathLst>
              <a:path w="2377440" h="565150">
                <a:moveTo>
                  <a:pt x="771141" y="485732"/>
                </a:moveTo>
                <a:lnTo>
                  <a:pt x="0" y="485732"/>
                </a:lnTo>
                <a:lnTo>
                  <a:pt x="0" y="474860"/>
                </a:lnTo>
                <a:lnTo>
                  <a:pt x="766647" y="474860"/>
                </a:lnTo>
                <a:lnTo>
                  <a:pt x="1216141" y="25366"/>
                </a:lnTo>
                <a:lnTo>
                  <a:pt x="2252256" y="25366"/>
                </a:lnTo>
                <a:lnTo>
                  <a:pt x="2255995" y="15288"/>
                </a:lnTo>
                <a:lnTo>
                  <a:pt x="2262819" y="7247"/>
                </a:lnTo>
                <a:lnTo>
                  <a:pt x="2272007" y="1925"/>
                </a:lnTo>
                <a:lnTo>
                  <a:pt x="2282839" y="0"/>
                </a:lnTo>
                <a:lnTo>
                  <a:pt x="2294819" y="2418"/>
                </a:lnTo>
                <a:lnTo>
                  <a:pt x="2304638" y="9023"/>
                </a:lnTo>
                <a:lnTo>
                  <a:pt x="2305888" y="10871"/>
                </a:lnTo>
                <a:lnTo>
                  <a:pt x="2273563" y="10871"/>
                </a:lnTo>
                <a:lnTo>
                  <a:pt x="2265881" y="16958"/>
                </a:lnTo>
                <a:lnTo>
                  <a:pt x="2263561" y="25366"/>
                </a:lnTo>
                <a:lnTo>
                  <a:pt x="2262982" y="27106"/>
                </a:lnTo>
                <a:lnTo>
                  <a:pt x="2262692" y="28990"/>
                </a:lnTo>
                <a:lnTo>
                  <a:pt x="2262692" y="32759"/>
                </a:lnTo>
                <a:lnTo>
                  <a:pt x="2262982" y="34499"/>
                </a:lnTo>
                <a:lnTo>
                  <a:pt x="2263561" y="36238"/>
                </a:lnTo>
                <a:lnTo>
                  <a:pt x="1220635" y="36238"/>
                </a:lnTo>
                <a:lnTo>
                  <a:pt x="771141" y="485732"/>
                </a:lnTo>
                <a:close/>
              </a:path>
              <a:path w="2377440" h="565150">
                <a:moveTo>
                  <a:pt x="2305888" y="50878"/>
                </a:moveTo>
                <a:lnTo>
                  <a:pt x="2282839" y="50878"/>
                </a:lnTo>
                <a:lnTo>
                  <a:pt x="2290613" y="49301"/>
                </a:lnTo>
                <a:lnTo>
                  <a:pt x="2296973" y="45007"/>
                </a:lnTo>
                <a:lnTo>
                  <a:pt x="2301267" y="38647"/>
                </a:lnTo>
                <a:lnTo>
                  <a:pt x="2302844" y="30874"/>
                </a:lnTo>
                <a:lnTo>
                  <a:pt x="2301267" y="23101"/>
                </a:lnTo>
                <a:lnTo>
                  <a:pt x="2296973" y="16741"/>
                </a:lnTo>
                <a:lnTo>
                  <a:pt x="2290613" y="12447"/>
                </a:lnTo>
                <a:lnTo>
                  <a:pt x="2282839" y="10871"/>
                </a:lnTo>
                <a:lnTo>
                  <a:pt x="2305888" y="10871"/>
                </a:lnTo>
                <a:lnTo>
                  <a:pt x="2311276" y="18834"/>
                </a:lnTo>
                <a:lnTo>
                  <a:pt x="2313715" y="30874"/>
                </a:lnTo>
                <a:lnTo>
                  <a:pt x="2311276" y="42914"/>
                </a:lnTo>
                <a:lnTo>
                  <a:pt x="2305888" y="50878"/>
                </a:lnTo>
                <a:close/>
              </a:path>
              <a:path w="2377440" h="565150">
                <a:moveTo>
                  <a:pt x="2282839" y="61750"/>
                </a:moveTo>
                <a:lnTo>
                  <a:pt x="2272007" y="59802"/>
                </a:lnTo>
                <a:lnTo>
                  <a:pt x="2262819" y="54430"/>
                </a:lnTo>
                <a:lnTo>
                  <a:pt x="2255995" y="46339"/>
                </a:lnTo>
                <a:lnTo>
                  <a:pt x="2252256" y="36238"/>
                </a:lnTo>
                <a:lnTo>
                  <a:pt x="2263561" y="36238"/>
                </a:lnTo>
                <a:lnTo>
                  <a:pt x="2265736" y="44645"/>
                </a:lnTo>
                <a:lnTo>
                  <a:pt x="2273563" y="50878"/>
                </a:lnTo>
                <a:lnTo>
                  <a:pt x="2305888" y="50878"/>
                </a:lnTo>
                <a:lnTo>
                  <a:pt x="2304638" y="52726"/>
                </a:lnTo>
                <a:lnTo>
                  <a:pt x="2294819" y="59331"/>
                </a:lnTo>
                <a:lnTo>
                  <a:pt x="2282839" y="61750"/>
                </a:lnTo>
                <a:close/>
              </a:path>
              <a:path w="2377440" h="565150">
                <a:moveTo>
                  <a:pt x="1131046" y="263811"/>
                </a:moveTo>
                <a:lnTo>
                  <a:pt x="1115546" y="263811"/>
                </a:lnTo>
                <a:lnTo>
                  <a:pt x="1245422" y="133935"/>
                </a:lnTo>
                <a:lnTo>
                  <a:pt x="1773481" y="133935"/>
                </a:lnTo>
                <a:lnTo>
                  <a:pt x="1784369" y="144806"/>
                </a:lnTo>
                <a:lnTo>
                  <a:pt x="1249916" y="144806"/>
                </a:lnTo>
                <a:lnTo>
                  <a:pt x="1131046" y="263811"/>
                </a:lnTo>
                <a:close/>
              </a:path>
              <a:path w="2377440" h="565150">
                <a:moveTo>
                  <a:pt x="820860" y="553714"/>
                </a:moveTo>
                <a:lnTo>
                  <a:pt x="805494" y="553714"/>
                </a:lnTo>
                <a:lnTo>
                  <a:pt x="962477" y="396731"/>
                </a:lnTo>
                <a:lnTo>
                  <a:pt x="1103225" y="396731"/>
                </a:lnTo>
                <a:lnTo>
                  <a:pt x="1272962" y="226848"/>
                </a:lnTo>
                <a:lnTo>
                  <a:pt x="1331524" y="226848"/>
                </a:lnTo>
                <a:lnTo>
                  <a:pt x="1413711" y="144806"/>
                </a:lnTo>
                <a:lnTo>
                  <a:pt x="1429076" y="144806"/>
                </a:lnTo>
                <a:lnTo>
                  <a:pt x="1336161" y="237720"/>
                </a:lnTo>
                <a:lnTo>
                  <a:pt x="1277602" y="237720"/>
                </a:lnTo>
                <a:lnTo>
                  <a:pt x="1107719" y="407603"/>
                </a:lnTo>
                <a:lnTo>
                  <a:pt x="966971" y="407603"/>
                </a:lnTo>
                <a:lnTo>
                  <a:pt x="820860" y="553714"/>
                </a:lnTo>
                <a:close/>
              </a:path>
              <a:path w="2377440" h="565150">
                <a:moveTo>
                  <a:pt x="2346474" y="266421"/>
                </a:moveTo>
                <a:lnTo>
                  <a:pt x="2335745" y="264498"/>
                </a:lnTo>
                <a:lnTo>
                  <a:pt x="2326633" y="259191"/>
                </a:lnTo>
                <a:lnTo>
                  <a:pt x="2319832" y="251194"/>
                </a:lnTo>
                <a:lnTo>
                  <a:pt x="2316035" y="241199"/>
                </a:lnTo>
                <a:lnTo>
                  <a:pt x="1865525" y="241199"/>
                </a:lnTo>
                <a:lnTo>
                  <a:pt x="1768987" y="144806"/>
                </a:lnTo>
                <a:lnTo>
                  <a:pt x="1784369" y="144806"/>
                </a:lnTo>
                <a:lnTo>
                  <a:pt x="1870018" y="230327"/>
                </a:lnTo>
                <a:lnTo>
                  <a:pt x="2327196" y="230327"/>
                </a:lnTo>
                <a:lnTo>
                  <a:pt x="2326760" y="232066"/>
                </a:lnTo>
                <a:lnTo>
                  <a:pt x="2326471" y="233806"/>
                </a:lnTo>
                <a:lnTo>
                  <a:pt x="2326493" y="237720"/>
                </a:lnTo>
                <a:lnTo>
                  <a:pt x="2326760" y="239459"/>
                </a:lnTo>
                <a:lnTo>
                  <a:pt x="2327340" y="241199"/>
                </a:lnTo>
                <a:lnTo>
                  <a:pt x="2329804" y="249460"/>
                </a:lnTo>
                <a:lnTo>
                  <a:pt x="2337487" y="255549"/>
                </a:lnTo>
                <a:lnTo>
                  <a:pt x="2369569" y="255549"/>
                </a:lnTo>
                <a:lnTo>
                  <a:pt x="2368325" y="257397"/>
                </a:lnTo>
                <a:lnTo>
                  <a:pt x="2358514" y="264002"/>
                </a:lnTo>
                <a:lnTo>
                  <a:pt x="2346474" y="266421"/>
                </a:lnTo>
                <a:close/>
              </a:path>
              <a:path w="2377440" h="565150">
                <a:moveTo>
                  <a:pt x="2327196" y="230327"/>
                </a:moveTo>
                <a:lnTo>
                  <a:pt x="2316035" y="230327"/>
                </a:lnTo>
                <a:lnTo>
                  <a:pt x="2319690" y="220142"/>
                </a:lnTo>
                <a:lnTo>
                  <a:pt x="2326471" y="212009"/>
                </a:lnTo>
                <a:lnTo>
                  <a:pt x="2335643" y="206621"/>
                </a:lnTo>
                <a:lnTo>
                  <a:pt x="2346474" y="204671"/>
                </a:lnTo>
                <a:lnTo>
                  <a:pt x="2358514" y="207090"/>
                </a:lnTo>
                <a:lnTo>
                  <a:pt x="2368325" y="213694"/>
                </a:lnTo>
                <a:lnTo>
                  <a:pt x="2369569" y="215543"/>
                </a:lnTo>
                <a:lnTo>
                  <a:pt x="2337197" y="215543"/>
                </a:lnTo>
                <a:lnTo>
                  <a:pt x="2329515" y="221776"/>
                </a:lnTo>
                <a:lnTo>
                  <a:pt x="2327196" y="230327"/>
                </a:lnTo>
                <a:close/>
              </a:path>
              <a:path w="2377440" h="565150">
                <a:moveTo>
                  <a:pt x="2369569" y="255549"/>
                </a:moveTo>
                <a:lnTo>
                  <a:pt x="2346474" y="255549"/>
                </a:lnTo>
                <a:lnTo>
                  <a:pt x="2354247" y="253973"/>
                </a:lnTo>
                <a:lnTo>
                  <a:pt x="2360607" y="249678"/>
                </a:lnTo>
                <a:lnTo>
                  <a:pt x="2364901" y="243318"/>
                </a:lnTo>
                <a:lnTo>
                  <a:pt x="2366478" y="235545"/>
                </a:lnTo>
                <a:lnTo>
                  <a:pt x="2364901" y="227772"/>
                </a:lnTo>
                <a:lnTo>
                  <a:pt x="2360607" y="221413"/>
                </a:lnTo>
                <a:lnTo>
                  <a:pt x="2354247" y="217119"/>
                </a:lnTo>
                <a:lnTo>
                  <a:pt x="2346474" y="215543"/>
                </a:lnTo>
                <a:lnTo>
                  <a:pt x="2369569" y="215543"/>
                </a:lnTo>
                <a:lnTo>
                  <a:pt x="2374929" y="223505"/>
                </a:lnTo>
                <a:lnTo>
                  <a:pt x="2377348" y="235545"/>
                </a:lnTo>
                <a:lnTo>
                  <a:pt x="2374929" y="247586"/>
                </a:lnTo>
                <a:lnTo>
                  <a:pt x="2369569" y="255549"/>
                </a:lnTo>
                <a:close/>
              </a:path>
              <a:path w="2377440" h="565150">
                <a:moveTo>
                  <a:pt x="1097861" y="320052"/>
                </a:moveTo>
                <a:lnTo>
                  <a:pt x="1085882" y="317633"/>
                </a:lnTo>
                <a:lnTo>
                  <a:pt x="1076064" y="311029"/>
                </a:lnTo>
                <a:lnTo>
                  <a:pt x="1069426" y="301218"/>
                </a:lnTo>
                <a:lnTo>
                  <a:pt x="1066987" y="289178"/>
                </a:lnTo>
                <a:lnTo>
                  <a:pt x="1069426" y="277138"/>
                </a:lnTo>
                <a:lnTo>
                  <a:pt x="1076064" y="267326"/>
                </a:lnTo>
                <a:lnTo>
                  <a:pt x="1085882" y="260722"/>
                </a:lnTo>
                <a:lnTo>
                  <a:pt x="1097861" y="258304"/>
                </a:lnTo>
                <a:lnTo>
                  <a:pt x="1104530" y="258304"/>
                </a:lnTo>
                <a:lnTo>
                  <a:pt x="1110617" y="260332"/>
                </a:lnTo>
                <a:lnTo>
                  <a:pt x="1115546" y="263811"/>
                </a:lnTo>
                <a:lnTo>
                  <a:pt x="1131046" y="263811"/>
                </a:lnTo>
                <a:lnTo>
                  <a:pt x="1125689" y="269174"/>
                </a:lnTo>
                <a:lnTo>
                  <a:pt x="1097861" y="269174"/>
                </a:lnTo>
                <a:lnTo>
                  <a:pt x="1090088" y="270750"/>
                </a:lnTo>
                <a:lnTo>
                  <a:pt x="1083729" y="275045"/>
                </a:lnTo>
                <a:lnTo>
                  <a:pt x="1079435" y="281405"/>
                </a:lnTo>
                <a:lnTo>
                  <a:pt x="1077858" y="289178"/>
                </a:lnTo>
                <a:lnTo>
                  <a:pt x="1079435" y="296951"/>
                </a:lnTo>
                <a:lnTo>
                  <a:pt x="1083729" y="303310"/>
                </a:lnTo>
                <a:lnTo>
                  <a:pt x="1090088" y="307604"/>
                </a:lnTo>
                <a:lnTo>
                  <a:pt x="1097861" y="309180"/>
                </a:lnTo>
                <a:lnTo>
                  <a:pt x="1121039" y="309180"/>
                </a:lnTo>
                <a:lnTo>
                  <a:pt x="1119786" y="311029"/>
                </a:lnTo>
                <a:lnTo>
                  <a:pt x="1109924" y="317633"/>
                </a:lnTo>
                <a:lnTo>
                  <a:pt x="1097861" y="320052"/>
                </a:lnTo>
                <a:close/>
              </a:path>
              <a:path w="2377440" h="565150">
                <a:moveTo>
                  <a:pt x="1121039" y="309180"/>
                </a:moveTo>
                <a:lnTo>
                  <a:pt x="1097861" y="309180"/>
                </a:lnTo>
                <a:lnTo>
                  <a:pt x="1105718" y="307604"/>
                </a:lnTo>
                <a:lnTo>
                  <a:pt x="1112121" y="303310"/>
                </a:lnTo>
                <a:lnTo>
                  <a:pt x="1116431" y="296951"/>
                </a:lnTo>
                <a:lnTo>
                  <a:pt x="1118010" y="289178"/>
                </a:lnTo>
                <a:lnTo>
                  <a:pt x="1118010" y="285699"/>
                </a:lnTo>
                <a:lnTo>
                  <a:pt x="1117216" y="282655"/>
                </a:lnTo>
                <a:lnTo>
                  <a:pt x="1117141" y="282365"/>
                </a:lnTo>
                <a:lnTo>
                  <a:pt x="1115401" y="279466"/>
                </a:lnTo>
                <a:lnTo>
                  <a:pt x="1113662" y="276276"/>
                </a:lnTo>
                <a:lnTo>
                  <a:pt x="1111052" y="273523"/>
                </a:lnTo>
                <a:lnTo>
                  <a:pt x="1107719" y="271784"/>
                </a:lnTo>
                <a:lnTo>
                  <a:pt x="1104820" y="270044"/>
                </a:lnTo>
                <a:lnTo>
                  <a:pt x="1101486" y="269174"/>
                </a:lnTo>
                <a:lnTo>
                  <a:pt x="1125689" y="269174"/>
                </a:lnTo>
                <a:lnTo>
                  <a:pt x="1123228" y="271638"/>
                </a:lnTo>
                <a:lnTo>
                  <a:pt x="1126851" y="276567"/>
                </a:lnTo>
                <a:lnTo>
                  <a:pt x="1128785" y="282365"/>
                </a:lnTo>
                <a:lnTo>
                  <a:pt x="1128881" y="289178"/>
                </a:lnTo>
                <a:lnTo>
                  <a:pt x="1126440" y="301218"/>
                </a:lnTo>
                <a:lnTo>
                  <a:pt x="1121039" y="309180"/>
                </a:lnTo>
                <a:close/>
              </a:path>
              <a:path w="2377440" h="565150">
                <a:moveTo>
                  <a:pt x="1039591" y="475731"/>
                </a:moveTo>
                <a:lnTo>
                  <a:pt x="1024227" y="475731"/>
                </a:lnTo>
                <a:lnTo>
                  <a:pt x="1092354" y="407603"/>
                </a:lnTo>
                <a:lnTo>
                  <a:pt x="1107719" y="407603"/>
                </a:lnTo>
                <a:lnTo>
                  <a:pt x="1039591" y="475731"/>
                </a:lnTo>
                <a:close/>
              </a:path>
              <a:path w="2377440" h="565150">
                <a:moveTo>
                  <a:pt x="1006687" y="531972"/>
                </a:moveTo>
                <a:lnTo>
                  <a:pt x="994625" y="529530"/>
                </a:lnTo>
                <a:lnTo>
                  <a:pt x="984764" y="522876"/>
                </a:lnTo>
                <a:lnTo>
                  <a:pt x="978110" y="513014"/>
                </a:lnTo>
                <a:lnTo>
                  <a:pt x="975668" y="500952"/>
                </a:lnTo>
                <a:lnTo>
                  <a:pt x="978110" y="488973"/>
                </a:lnTo>
                <a:lnTo>
                  <a:pt x="984764" y="479155"/>
                </a:lnTo>
                <a:lnTo>
                  <a:pt x="994625" y="472517"/>
                </a:lnTo>
                <a:lnTo>
                  <a:pt x="1006687" y="470077"/>
                </a:lnTo>
                <a:lnTo>
                  <a:pt x="1013209" y="470077"/>
                </a:lnTo>
                <a:lnTo>
                  <a:pt x="1019298" y="472106"/>
                </a:lnTo>
                <a:lnTo>
                  <a:pt x="1024227" y="475731"/>
                </a:lnTo>
                <a:lnTo>
                  <a:pt x="1039591" y="475731"/>
                </a:lnTo>
                <a:lnTo>
                  <a:pt x="1034374" y="480948"/>
                </a:lnTo>
                <a:lnTo>
                  <a:pt x="1006687" y="480948"/>
                </a:lnTo>
                <a:lnTo>
                  <a:pt x="998830" y="482524"/>
                </a:lnTo>
                <a:lnTo>
                  <a:pt x="992428" y="486818"/>
                </a:lnTo>
                <a:lnTo>
                  <a:pt x="988118" y="493178"/>
                </a:lnTo>
                <a:lnTo>
                  <a:pt x="986540" y="500952"/>
                </a:lnTo>
                <a:lnTo>
                  <a:pt x="988118" y="508808"/>
                </a:lnTo>
                <a:lnTo>
                  <a:pt x="992428" y="515211"/>
                </a:lnTo>
                <a:lnTo>
                  <a:pt x="998830" y="519521"/>
                </a:lnTo>
                <a:lnTo>
                  <a:pt x="1006687" y="521100"/>
                </a:lnTo>
                <a:lnTo>
                  <a:pt x="1029680" y="521100"/>
                </a:lnTo>
                <a:lnTo>
                  <a:pt x="1028484" y="522876"/>
                </a:lnTo>
                <a:lnTo>
                  <a:pt x="1018666" y="529530"/>
                </a:lnTo>
                <a:lnTo>
                  <a:pt x="1006687" y="531972"/>
                </a:lnTo>
                <a:close/>
              </a:path>
              <a:path w="2377440" h="565150">
                <a:moveTo>
                  <a:pt x="1029680" y="521100"/>
                </a:moveTo>
                <a:lnTo>
                  <a:pt x="1006687" y="521100"/>
                </a:lnTo>
                <a:lnTo>
                  <a:pt x="1014460" y="519521"/>
                </a:lnTo>
                <a:lnTo>
                  <a:pt x="1020820" y="515211"/>
                </a:lnTo>
                <a:lnTo>
                  <a:pt x="1025115" y="508808"/>
                </a:lnTo>
                <a:lnTo>
                  <a:pt x="1026691" y="500952"/>
                </a:lnTo>
                <a:lnTo>
                  <a:pt x="1026691" y="497473"/>
                </a:lnTo>
                <a:lnTo>
                  <a:pt x="1025896" y="494429"/>
                </a:lnTo>
                <a:lnTo>
                  <a:pt x="1025821" y="494138"/>
                </a:lnTo>
                <a:lnTo>
                  <a:pt x="1024081" y="491239"/>
                </a:lnTo>
                <a:lnTo>
                  <a:pt x="1022342" y="488051"/>
                </a:lnTo>
                <a:lnTo>
                  <a:pt x="1019587" y="485297"/>
                </a:lnTo>
                <a:lnTo>
                  <a:pt x="1016399" y="483557"/>
                </a:lnTo>
                <a:lnTo>
                  <a:pt x="1013500" y="481818"/>
                </a:lnTo>
                <a:lnTo>
                  <a:pt x="1010166" y="480948"/>
                </a:lnTo>
                <a:lnTo>
                  <a:pt x="1034374" y="480948"/>
                </a:lnTo>
                <a:lnTo>
                  <a:pt x="1031909" y="483413"/>
                </a:lnTo>
                <a:lnTo>
                  <a:pt x="1035533" y="488340"/>
                </a:lnTo>
                <a:lnTo>
                  <a:pt x="1037466" y="494138"/>
                </a:lnTo>
                <a:lnTo>
                  <a:pt x="1037563" y="500952"/>
                </a:lnTo>
                <a:lnTo>
                  <a:pt x="1035123" y="513014"/>
                </a:lnTo>
                <a:lnTo>
                  <a:pt x="1029680" y="521100"/>
                </a:lnTo>
                <a:close/>
              </a:path>
              <a:path w="2377440" h="565150">
                <a:moveTo>
                  <a:pt x="809988" y="564586"/>
                </a:moveTo>
                <a:lnTo>
                  <a:pt x="416735" y="564586"/>
                </a:lnTo>
                <a:lnTo>
                  <a:pt x="337882" y="485732"/>
                </a:lnTo>
                <a:lnTo>
                  <a:pt x="353246" y="485732"/>
                </a:lnTo>
                <a:lnTo>
                  <a:pt x="421228" y="553714"/>
                </a:lnTo>
                <a:lnTo>
                  <a:pt x="820860" y="553714"/>
                </a:lnTo>
                <a:lnTo>
                  <a:pt x="809988" y="5645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669698" y="494749"/>
            <a:ext cx="1076538" cy="515142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869723" y="675724"/>
            <a:ext cx="676910" cy="115570"/>
          </a:xfrm>
          <a:custGeom>
            <a:avLst/>
            <a:gdLst/>
            <a:ahLst/>
            <a:cxnLst/>
            <a:rect l="l" t="t" r="r" b="b"/>
            <a:pathLst>
              <a:path w="676910" h="115570">
                <a:moveTo>
                  <a:pt x="30585" y="51022"/>
                </a:moveTo>
                <a:lnTo>
                  <a:pt x="25511" y="51022"/>
                </a:lnTo>
                <a:lnTo>
                  <a:pt x="15593" y="49013"/>
                </a:lnTo>
                <a:lnTo>
                  <a:pt x="7483" y="43539"/>
                </a:lnTo>
                <a:lnTo>
                  <a:pt x="2008" y="35429"/>
                </a:lnTo>
                <a:lnTo>
                  <a:pt x="0" y="25511"/>
                </a:lnTo>
                <a:lnTo>
                  <a:pt x="2008" y="15593"/>
                </a:lnTo>
                <a:lnTo>
                  <a:pt x="7483" y="7483"/>
                </a:lnTo>
                <a:lnTo>
                  <a:pt x="15593" y="2008"/>
                </a:lnTo>
                <a:lnTo>
                  <a:pt x="25511" y="0"/>
                </a:lnTo>
                <a:lnTo>
                  <a:pt x="35428" y="2008"/>
                </a:lnTo>
                <a:lnTo>
                  <a:pt x="43539" y="7483"/>
                </a:lnTo>
                <a:lnTo>
                  <a:pt x="49013" y="15593"/>
                </a:lnTo>
                <a:lnTo>
                  <a:pt x="51022" y="25511"/>
                </a:lnTo>
                <a:lnTo>
                  <a:pt x="51022" y="30585"/>
                </a:lnTo>
                <a:lnTo>
                  <a:pt x="49427" y="35223"/>
                </a:lnTo>
                <a:lnTo>
                  <a:pt x="46964" y="39282"/>
                </a:lnTo>
                <a:lnTo>
                  <a:pt x="54646" y="46964"/>
                </a:lnTo>
                <a:lnTo>
                  <a:pt x="39282" y="46964"/>
                </a:lnTo>
                <a:lnTo>
                  <a:pt x="35368" y="49574"/>
                </a:lnTo>
                <a:lnTo>
                  <a:pt x="30585" y="51022"/>
                </a:lnTo>
                <a:close/>
              </a:path>
              <a:path w="676910" h="115570">
                <a:moveTo>
                  <a:pt x="645468" y="115092"/>
                </a:moveTo>
                <a:lnTo>
                  <a:pt x="634719" y="113123"/>
                </a:lnTo>
                <a:lnTo>
                  <a:pt x="625573" y="107717"/>
                </a:lnTo>
                <a:lnTo>
                  <a:pt x="618765" y="99620"/>
                </a:lnTo>
                <a:lnTo>
                  <a:pt x="615029" y="89580"/>
                </a:lnTo>
                <a:lnTo>
                  <a:pt x="81896" y="89580"/>
                </a:lnTo>
                <a:lnTo>
                  <a:pt x="39282" y="46964"/>
                </a:lnTo>
                <a:lnTo>
                  <a:pt x="54646" y="46964"/>
                </a:lnTo>
                <a:lnTo>
                  <a:pt x="86390" y="78708"/>
                </a:lnTo>
                <a:lnTo>
                  <a:pt x="626334" y="78708"/>
                </a:lnTo>
                <a:lnTo>
                  <a:pt x="625754" y="80448"/>
                </a:lnTo>
                <a:lnTo>
                  <a:pt x="625465" y="82332"/>
                </a:lnTo>
                <a:lnTo>
                  <a:pt x="625465" y="86101"/>
                </a:lnTo>
                <a:lnTo>
                  <a:pt x="625754" y="87841"/>
                </a:lnTo>
                <a:lnTo>
                  <a:pt x="626334" y="89580"/>
                </a:lnTo>
                <a:lnTo>
                  <a:pt x="628509" y="97987"/>
                </a:lnTo>
                <a:lnTo>
                  <a:pt x="636336" y="104220"/>
                </a:lnTo>
                <a:lnTo>
                  <a:pt x="668609" y="104220"/>
                </a:lnTo>
                <a:lnTo>
                  <a:pt x="667393" y="106014"/>
                </a:lnTo>
                <a:lnTo>
                  <a:pt x="657531" y="112652"/>
                </a:lnTo>
                <a:lnTo>
                  <a:pt x="645468" y="115092"/>
                </a:lnTo>
                <a:close/>
              </a:path>
              <a:path w="676910" h="115570">
                <a:moveTo>
                  <a:pt x="626334" y="78708"/>
                </a:moveTo>
                <a:lnTo>
                  <a:pt x="615029" y="78708"/>
                </a:lnTo>
                <a:lnTo>
                  <a:pt x="618765" y="68607"/>
                </a:lnTo>
                <a:lnTo>
                  <a:pt x="625573" y="60517"/>
                </a:lnTo>
                <a:lnTo>
                  <a:pt x="634719" y="55145"/>
                </a:lnTo>
                <a:lnTo>
                  <a:pt x="645468" y="53197"/>
                </a:lnTo>
                <a:lnTo>
                  <a:pt x="657531" y="55639"/>
                </a:lnTo>
                <a:lnTo>
                  <a:pt x="667393" y="62293"/>
                </a:lnTo>
                <a:lnTo>
                  <a:pt x="668591" y="64069"/>
                </a:lnTo>
                <a:lnTo>
                  <a:pt x="636336" y="64069"/>
                </a:lnTo>
                <a:lnTo>
                  <a:pt x="628653" y="70156"/>
                </a:lnTo>
                <a:lnTo>
                  <a:pt x="626334" y="78708"/>
                </a:lnTo>
                <a:close/>
              </a:path>
              <a:path w="676910" h="115570">
                <a:moveTo>
                  <a:pt x="668609" y="104220"/>
                </a:moveTo>
                <a:lnTo>
                  <a:pt x="645468" y="104220"/>
                </a:lnTo>
                <a:lnTo>
                  <a:pt x="653325" y="102643"/>
                </a:lnTo>
                <a:lnTo>
                  <a:pt x="659728" y="98349"/>
                </a:lnTo>
                <a:lnTo>
                  <a:pt x="664038" y="91990"/>
                </a:lnTo>
                <a:lnTo>
                  <a:pt x="665616" y="84217"/>
                </a:lnTo>
                <a:lnTo>
                  <a:pt x="664038" y="76360"/>
                </a:lnTo>
                <a:lnTo>
                  <a:pt x="659728" y="69957"/>
                </a:lnTo>
                <a:lnTo>
                  <a:pt x="653325" y="65647"/>
                </a:lnTo>
                <a:lnTo>
                  <a:pt x="645468" y="64069"/>
                </a:lnTo>
                <a:lnTo>
                  <a:pt x="668591" y="64069"/>
                </a:lnTo>
                <a:lnTo>
                  <a:pt x="674047" y="72154"/>
                </a:lnTo>
                <a:lnTo>
                  <a:pt x="676488" y="84217"/>
                </a:lnTo>
                <a:lnTo>
                  <a:pt x="674047" y="96196"/>
                </a:lnTo>
                <a:lnTo>
                  <a:pt x="668609" y="104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16580" y="14525"/>
            <a:ext cx="1466892" cy="766776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416605" y="195500"/>
            <a:ext cx="1067435" cy="367030"/>
          </a:xfrm>
          <a:custGeom>
            <a:avLst/>
            <a:gdLst/>
            <a:ahLst/>
            <a:cxnLst/>
            <a:rect l="l" t="t" r="r" b="b"/>
            <a:pathLst>
              <a:path w="1067435" h="367030">
                <a:moveTo>
                  <a:pt x="30874" y="61748"/>
                </a:moveTo>
                <a:lnTo>
                  <a:pt x="18895" y="59309"/>
                </a:lnTo>
                <a:lnTo>
                  <a:pt x="9077" y="52671"/>
                </a:lnTo>
                <a:lnTo>
                  <a:pt x="2439" y="42852"/>
                </a:lnTo>
                <a:lnTo>
                  <a:pt x="0" y="30874"/>
                </a:lnTo>
                <a:lnTo>
                  <a:pt x="2439" y="18834"/>
                </a:lnTo>
                <a:lnTo>
                  <a:pt x="9077" y="9023"/>
                </a:lnTo>
                <a:lnTo>
                  <a:pt x="18895" y="2418"/>
                </a:lnTo>
                <a:lnTo>
                  <a:pt x="30874" y="0"/>
                </a:lnTo>
                <a:lnTo>
                  <a:pt x="41685" y="1925"/>
                </a:lnTo>
                <a:lnTo>
                  <a:pt x="50823" y="7247"/>
                </a:lnTo>
                <a:lnTo>
                  <a:pt x="53877" y="10871"/>
                </a:lnTo>
                <a:lnTo>
                  <a:pt x="30874" y="10871"/>
                </a:lnTo>
                <a:lnTo>
                  <a:pt x="23101" y="12447"/>
                </a:lnTo>
                <a:lnTo>
                  <a:pt x="16741" y="16741"/>
                </a:lnTo>
                <a:lnTo>
                  <a:pt x="12448" y="23101"/>
                </a:lnTo>
                <a:lnTo>
                  <a:pt x="10871" y="30874"/>
                </a:lnTo>
                <a:lnTo>
                  <a:pt x="12448" y="38647"/>
                </a:lnTo>
                <a:lnTo>
                  <a:pt x="16741" y="45007"/>
                </a:lnTo>
                <a:lnTo>
                  <a:pt x="23101" y="49301"/>
                </a:lnTo>
                <a:lnTo>
                  <a:pt x="30874" y="50878"/>
                </a:lnTo>
                <a:lnTo>
                  <a:pt x="53748" y="50878"/>
                </a:lnTo>
                <a:lnTo>
                  <a:pt x="50823" y="54374"/>
                </a:lnTo>
                <a:lnTo>
                  <a:pt x="41685" y="59780"/>
                </a:lnTo>
                <a:lnTo>
                  <a:pt x="30874" y="61748"/>
                </a:lnTo>
                <a:close/>
              </a:path>
              <a:path w="1067435" h="367030">
                <a:moveTo>
                  <a:pt x="53748" y="50878"/>
                </a:moveTo>
                <a:lnTo>
                  <a:pt x="40006" y="50878"/>
                </a:lnTo>
                <a:lnTo>
                  <a:pt x="47834" y="44645"/>
                </a:lnTo>
                <a:lnTo>
                  <a:pt x="50007" y="36238"/>
                </a:lnTo>
                <a:lnTo>
                  <a:pt x="50587" y="34497"/>
                </a:lnTo>
                <a:lnTo>
                  <a:pt x="50878" y="32758"/>
                </a:lnTo>
                <a:lnTo>
                  <a:pt x="50878" y="28990"/>
                </a:lnTo>
                <a:lnTo>
                  <a:pt x="50587" y="27106"/>
                </a:lnTo>
                <a:lnTo>
                  <a:pt x="50007" y="25366"/>
                </a:lnTo>
                <a:lnTo>
                  <a:pt x="47688" y="16958"/>
                </a:lnTo>
                <a:lnTo>
                  <a:pt x="40006" y="10871"/>
                </a:lnTo>
                <a:lnTo>
                  <a:pt x="53877" y="10871"/>
                </a:lnTo>
                <a:lnTo>
                  <a:pt x="57597" y="15288"/>
                </a:lnTo>
                <a:lnTo>
                  <a:pt x="61314" y="25366"/>
                </a:lnTo>
                <a:lnTo>
                  <a:pt x="212208" y="25366"/>
                </a:lnTo>
                <a:lnTo>
                  <a:pt x="223080" y="36238"/>
                </a:lnTo>
                <a:lnTo>
                  <a:pt x="61314" y="36238"/>
                </a:lnTo>
                <a:lnTo>
                  <a:pt x="57597" y="46278"/>
                </a:lnTo>
                <a:lnTo>
                  <a:pt x="53748" y="50878"/>
                </a:lnTo>
                <a:close/>
              </a:path>
              <a:path w="1067435" h="367030">
                <a:moveTo>
                  <a:pt x="766647" y="335852"/>
                </a:moveTo>
                <a:lnTo>
                  <a:pt x="751283" y="335852"/>
                </a:lnTo>
                <a:lnTo>
                  <a:pt x="572848" y="157416"/>
                </a:lnTo>
                <a:lnTo>
                  <a:pt x="328894" y="157416"/>
                </a:lnTo>
                <a:lnTo>
                  <a:pt x="207715" y="36238"/>
                </a:lnTo>
                <a:lnTo>
                  <a:pt x="223080" y="36238"/>
                </a:lnTo>
                <a:lnTo>
                  <a:pt x="333388" y="146546"/>
                </a:lnTo>
                <a:lnTo>
                  <a:pt x="577342" y="146546"/>
                </a:lnTo>
                <a:lnTo>
                  <a:pt x="766647" y="335852"/>
                </a:lnTo>
                <a:close/>
              </a:path>
              <a:path w="1067435" h="367030">
                <a:moveTo>
                  <a:pt x="296136" y="268885"/>
                </a:moveTo>
                <a:lnTo>
                  <a:pt x="284096" y="266445"/>
                </a:lnTo>
                <a:lnTo>
                  <a:pt x="274284" y="259807"/>
                </a:lnTo>
                <a:lnTo>
                  <a:pt x="267680" y="249988"/>
                </a:lnTo>
                <a:lnTo>
                  <a:pt x="265261" y="238009"/>
                </a:lnTo>
                <a:lnTo>
                  <a:pt x="267680" y="225947"/>
                </a:lnTo>
                <a:lnTo>
                  <a:pt x="274284" y="216086"/>
                </a:lnTo>
                <a:lnTo>
                  <a:pt x="284096" y="209432"/>
                </a:lnTo>
                <a:lnTo>
                  <a:pt x="296136" y="206990"/>
                </a:lnTo>
                <a:lnTo>
                  <a:pt x="306966" y="208985"/>
                </a:lnTo>
                <a:lnTo>
                  <a:pt x="316139" y="214473"/>
                </a:lnTo>
                <a:lnTo>
                  <a:pt x="318930" y="217862"/>
                </a:lnTo>
                <a:lnTo>
                  <a:pt x="296136" y="217862"/>
                </a:lnTo>
                <a:lnTo>
                  <a:pt x="288363" y="219440"/>
                </a:lnTo>
                <a:lnTo>
                  <a:pt x="282003" y="223750"/>
                </a:lnTo>
                <a:lnTo>
                  <a:pt x="277708" y="230152"/>
                </a:lnTo>
                <a:lnTo>
                  <a:pt x="276132" y="238009"/>
                </a:lnTo>
                <a:lnTo>
                  <a:pt x="277708" y="245782"/>
                </a:lnTo>
                <a:lnTo>
                  <a:pt x="281954" y="252070"/>
                </a:lnTo>
                <a:lnTo>
                  <a:pt x="284337" y="253719"/>
                </a:lnTo>
                <a:lnTo>
                  <a:pt x="288363" y="256437"/>
                </a:lnTo>
                <a:lnTo>
                  <a:pt x="296136" y="258013"/>
                </a:lnTo>
                <a:lnTo>
                  <a:pt x="318971" y="258013"/>
                </a:lnTo>
                <a:lnTo>
                  <a:pt x="315849" y="261673"/>
                </a:lnTo>
                <a:lnTo>
                  <a:pt x="306781" y="266964"/>
                </a:lnTo>
                <a:lnTo>
                  <a:pt x="296136" y="268885"/>
                </a:lnTo>
                <a:close/>
              </a:path>
              <a:path w="1067435" h="367030">
                <a:moveTo>
                  <a:pt x="318971" y="258013"/>
                </a:moveTo>
                <a:lnTo>
                  <a:pt x="305122" y="258013"/>
                </a:lnTo>
                <a:lnTo>
                  <a:pt x="312806" y="252070"/>
                </a:lnTo>
                <a:lnTo>
                  <a:pt x="315125" y="243807"/>
                </a:lnTo>
                <a:lnTo>
                  <a:pt x="315849" y="241923"/>
                </a:lnTo>
                <a:lnTo>
                  <a:pt x="316138" y="240039"/>
                </a:lnTo>
                <a:lnTo>
                  <a:pt x="316138" y="236270"/>
                </a:lnTo>
                <a:lnTo>
                  <a:pt x="315849" y="234530"/>
                </a:lnTo>
                <a:lnTo>
                  <a:pt x="315414" y="232937"/>
                </a:lnTo>
                <a:lnTo>
                  <a:pt x="313239" y="224240"/>
                </a:lnTo>
                <a:lnTo>
                  <a:pt x="305413" y="217862"/>
                </a:lnTo>
                <a:lnTo>
                  <a:pt x="318930" y="217862"/>
                </a:lnTo>
                <a:lnTo>
                  <a:pt x="322920" y="222706"/>
                </a:lnTo>
                <a:lnTo>
                  <a:pt x="326575" y="232937"/>
                </a:lnTo>
                <a:lnTo>
                  <a:pt x="525739" y="232937"/>
                </a:lnTo>
                <a:lnTo>
                  <a:pt x="536609" y="243807"/>
                </a:lnTo>
                <a:lnTo>
                  <a:pt x="326430" y="243807"/>
                </a:lnTo>
                <a:lnTo>
                  <a:pt x="322634" y="253719"/>
                </a:lnTo>
                <a:lnTo>
                  <a:pt x="318971" y="258013"/>
                </a:lnTo>
                <a:close/>
              </a:path>
              <a:path w="1067435" h="367030">
                <a:moveTo>
                  <a:pt x="1041331" y="366726"/>
                </a:moveTo>
                <a:lnTo>
                  <a:pt x="1032666" y="365129"/>
                </a:lnTo>
                <a:lnTo>
                  <a:pt x="1025278" y="360910"/>
                </a:lnTo>
                <a:lnTo>
                  <a:pt x="1019684" y="354598"/>
                </a:lnTo>
                <a:lnTo>
                  <a:pt x="1016399" y="346723"/>
                </a:lnTo>
                <a:lnTo>
                  <a:pt x="624160" y="346723"/>
                </a:lnTo>
                <a:lnTo>
                  <a:pt x="521245" y="243807"/>
                </a:lnTo>
                <a:lnTo>
                  <a:pt x="536609" y="243807"/>
                </a:lnTo>
                <a:lnTo>
                  <a:pt x="628654" y="335852"/>
                </a:lnTo>
                <a:lnTo>
                  <a:pt x="1065756" y="335852"/>
                </a:lnTo>
                <a:lnTo>
                  <a:pt x="1066842" y="341214"/>
                </a:lnTo>
                <a:lnTo>
                  <a:pt x="1064833" y="351133"/>
                </a:lnTo>
                <a:lnTo>
                  <a:pt x="1059359" y="359243"/>
                </a:lnTo>
                <a:lnTo>
                  <a:pt x="1051248" y="364717"/>
                </a:lnTo>
                <a:lnTo>
                  <a:pt x="1041331" y="366726"/>
                </a:lnTo>
                <a:close/>
              </a:path>
              <a:path w="1067435" h="367030">
                <a:moveTo>
                  <a:pt x="1065756" y="335852"/>
                </a:moveTo>
                <a:lnTo>
                  <a:pt x="1016399" y="335852"/>
                </a:lnTo>
                <a:lnTo>
                  <a:pt x="1019602" y="327872"/>
                </a:lnTo>
                <a:lnTo>
                  <a:pt x="1025169" y="321483"/>
                </a:lnTo>
                <a:lnTo>
                  <a:pt x="1032584" y="317241"/>
                </a:lnTo>
                <a:lnTo>
                  <a:pt x="1041331" y="315703"/>
                </a:lnTo>
                <a:lnTo>
                  <a:pt x="1051248" y="317712"/>
                </a:lnTo>
                <a:lnTo>
                  <a:pt x="1059359" y="323186"/>
                </a:lnTo>
                <a:lnTo>
                  <a:pt x="1064833" y="331297"/>
                </a:lnTo>
                <a:lnTo>
                  <a:pt x="1065756" y="33585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bg 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6545" y="330230"/>
            <a:ext cx="1704903" cy="891145"/>
          </a:xfrm>
          <a:prstGeom prst="rect">
            <a:avLst/>
          </a:prstGeom>
        </p:spPr>
      </p:pic>
      <p:sp>
        <p:nvSpPr>
          <p:cNvPr id="34" name="bg object 34"/>
          <p:cNvSpPr/>
          <p:nvPr/>
        </p:nvSpPr>
        <p:spPr>
          <a:xfrm>
            <a:off x="326570" y="511205"/>
            <a:ext cx="1304925" cy="491490"/>
          </a:xfrm>
          <a:custGeom>
            <a:avLst/>
            <a:gdLst/>
            <a:ahLst/>
            <a:cxnLst/>
            <a:rect l="l" t="t" r="r" b="b"/>
            <a:pathLst>
              <a:path w="1304925" h="491490">
                <a:moveTo>
                  <a:pt x="25511" y="491095"/>
                </a:moveTo>
                <a:lnTo>
                  <a:pt x="15593" y="489086"/>
                </a:lnTo>
                <a:lnTo>
                  <a:pt x="7483" y="483612"/>
                </a:lnTo>
                <a:lnTo>
                  <a:pt x="2008" y="475501"/>
                </a:lnTo>
                <a:lnTo>
                  <a:pt x="0" y="465583"/>
                </a:lnTo>
                <a:lnTo>
                  <a:pt x="2008" y="455666"/>
                </a:lnTo>
                <a:lnTo>
                  <a:pt x="7483" y="447555"/>
                </a:lnTo>
                <a:lnTo>
                  <a:pt x="15593" y="442081"/>
                </a:lnTo>
                <a:lnTo>
                  <a:pt x="25511" y="440072"/>
                </a:lnTo>
                <a:lnTo>
                  <a:pt x="34176" y="441587"/>
                </a:lnTo>
                <a:lnTo>
                  <a:pt x="41564" y="445780"/>
                </a:lnTo>
                <a:lnTo>
                  <a:pt x="47158" y="452119"/>
                </a:lnTo>
                <a:lnTo>
                  <a:pt x="50443" y="460075"/>
                </a:lnTo>
                <a:lnTo>
                  <a:pt x="409053" y="460075"/>
                </a:lnTo>
                <a:lnTo>
                  <a:pt x="849560" y="19568"/>
                </a:lnTo>
                <a:lnTo>
                  <a:pt x="1254555" y="19568"/>
                </a:lnTo>
                <a:lnTo>
                  <a:pt x="1257836" y="11802"/>
                </a:lnTo>
                <a:lnTo>
                  <a:pt x="1263414" y="5598"/>
                </a:lnTo>
                <a:lnTo>
                  <a:pt x="1270759" y="1487"/>
                </a:lnTo>
                <a:lnTo>
                  <a:pt x="1279340" y="0"/>
                </a:lnTo>
                <a:lnTo>
                  <a:pt x="1289259" y="2008"/>
                </a:lnTo>
                <a:lnTo>
                  <a:pt x="1297370" y="7483"/>
                </a:lnTo>
                <a:lnTo>
                  <a:pt x="1302844" y="15593"/>
                </a:lnTo>
                <a:lnTo>
                  <a:pt x="1304853" y="25511"/>
                </a:lnTo>
                <a:lnTo>
                  <a:pt x="1302844" y="35429"/>
                </a:lnTo>
                <a:lnTo>
                  <a:pt x="1297370" y="43539"/>
                </a:lnTo>
                <a:lnTo>
                  <a:pt x="1289259" y="49013"/>
                </a:lnTo>
                <a:lnTo>
                  <a:pt x="1279340" y="51022"/>
                </a:lnTo>
                <a:lnTo>
                  <a:pt x="1270573" y="49460"/>
                </a:lnTo>
                <a:lnTo>
                  <a:pt x="1263125" y="45152"/>
                </a:lnTo>
                <a:lnTo>
                  <a:pt x="1257551" y="38670"/>
                </a:lnTo>
                <a:lnTo>
                  <a:pt x="1254409" y="30585"/>
                </a:lnTo>
                <a:lnTo>
                  <a:pt x="854053" y="30585"/>
                </a:lnTo>
                <a:lnTo>
                  <a:pt x="413546" y="471092"/>
                </a:lnTo>
                <a:lnTo>
                  <a:pt x="50443" y="471092"/>
                </a:lnTo>
                <a:lnTo>
                  <a:pt x="47240" y="479048"/>
                </a:lnTo>
                <a:lnTo>
                  <a:pt x="41673" y="485387"/>
                </a:lnTo>
                <a:lnTo>
                  <a:pt x="34258" y="489580"/>
                </a:lnTo>
                <a:lnTo>
                  <a:pt x="25511" y="4910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571305" y="221936"/>
            <a:ext cx="1572694" cy="857951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7771329" y="402911"/>
            <a:ext cx="1372870" cy="458470"/>
          </a:xfrm>
          <a:custGeom>
            <a:avLst/>
            <a:gdLst/>
            <a:ahLst/>
            <a:cxnLst/>
            <a:rect l="l" t="t" r="r" b="b"/>
            <a:pathLst>
              <a:path w="1372870" h="458469">
                <a:moveTo>
                  <a:pt x="31126" y="61894"/>
                </a:moveTo>
                <a:lnTo>
                  <a:pt x="19022" y="59453"/>
                </a:lnTo>
                <a:lnTo>
                  <a:pt x="9127" y="52798"/>
                </a:lnTo>
                <a:lnTo>
                  <a:pt x="2450" y="42937"/>
                </a:lnTo>
                <a:lnTo>
                  <a:pt x="0" y="30874"/>
                </a:lnTo>
                <a:lnTo>
                  <a:pt x="2450" y="18895"/>
                </a:lnTo>
                <a:lnTo>
                  <a:pt x="9127" y="9077"/>
                </a:lnTo>
                <a:lnTo>
                  <a:pt x="19022" y="2439"/>
                </a:lnTo>
                <a:lnTo>
                  <a:pt x="31126" y="0"/>
                </a:lnTo>
                <a:lnTo>
                  <a:pt x="41913" y="1968"/>
                </a:lnTo>
                <a:lnTo>
                  <a:pt x="51090" y="7374"/>
                </a:lnTo>
                <a:lnTo>
                  <a:pt x="54041" y="10871"/>
                </a:lnTo>
                <a:lnTo>
                  <a:pt x="31126" y="10871"/>
                </a:lnTo>
                <a:lnTo>
                  <a:pt x="23242" y="12447"/>
                </a:lnTo>
                <a:lnTo>
                  <a:pt x="16817" y="16741"/>
                </a:lnTo>
                <a:lnTo>
                  <a:pt x="12493" y="23101"/>
                </a:lnTo>
                <a:lnTo>
                  <a:pt x="10908" y="30874"/>
                </a:lnTo>
                <a:lnTo>
                  <a:pt x="12493" y="38731"/>
                </a:lnTo>
                <a:lnTo>
                  <a:pt x="16817" y="45133"/>
                </a:lnTo>
                <a:lnTo>
                  <a:pt x="23242" y="49444"/>
                </a:lnTo>
                <a:lnTo>
                  <a:pt x="31126" y="51022"/>
                </a:lnTo>
                <a:lnTo>
                  <a:pt x="54090" y="51022"/>
                </a:lnTo>
                <a:lnTo>
                  <a:pt x="51090" y="54574"/>
                </a:lnTo>
                <a:lnTo>
                  <a:pt x="41913" y="59946"/>
                </a:lnTo>
                <a:lnTo>
                  <a:pt x="31126" y="61894"/>
                </a:lnTo>
                <a:close/>
              </a:path>
              <a:path w="1372870" h="458469">
                <a:moveTo>
                  <a:pt x="54090" y="51022"/>
                </a:moveTo>
                <a:lnTo>
                  <a:pt x="40290" y="51022"/>
                </a:lnTo>
                <a:lnTo>
                  <a:pt x="47999" y="44934"/>
                </a:lnTo>
                <a:lnTo>
                  <a:pt x="50326" y="36383"/>
                </a:lnTo>
                <a:lnTo>
                  <a:pt x="50908" y="34643"/>
                </a:lnTo>
                <a:lnTo>
                  <a:pt x="51200" y="32758"/>
                </a:lnTo>
                <a:lnTo>
                  <a:pt x="51200" y="28990"/>
                </a:lnTo>
                <a:lnTo>
                  <a:pt x="50908" y="27250"/>
                </a:lnTo>
                <a:lnTo>
                  <a:pt x="50326" y="25511"/>
                </a:lnTo>
                <a:lnTo>
                  <a:pt x="48144" y="17103"/>
                </a:lnTo>
                <a:lnTo>
                  <a:pt x="40290" y="10871"/>
                </a:lnTo>
                <a:lnTo>
                  <a:pt x="54041" y="10871"/>
                </a:lnTo>
                <a:lnTo>
                  <a:pt x="57922" y="15471"/>
                </a:lnTo>
                <a:lnTo>
                  <a:pt x="61672" y="25511"/>
                </a:lnTo>
                <a:lnTo>
                  <a:pt x="256293" y="25511"/>
                </a:lnTo>
                <a:lnTo>
                  <a:pt x="267203" y="36383"/>
                </a:lnTo>
                <a:lnTo>
                  <a:pt x="61672" y="36383"/>
                </a:lnTo>
                <a:lnTo>
                  <a:pt x="57922" y="46484"/>
                </a:lnTo>
                <a:lnTo>
                  <a:pt x="54090" y="51022"/>
                </a:lnTo>
                <a:close/>
              </a:path>
              <a:path w="1372870" h="458469">
                <a:moveTo>
                  <a:pt x="1372670" y="457901"/>
                </a:moveTo>
                <a:lnTo>
                  <a:pt x="674772" y="457901"/>
                </a:lnTo>
                <a:lnTo>
                  <a:pt x="251783" y="36383"/>
                </a:lnTo>
                <a:lnTo>
                  <a:pt x="267203" y="36383"/>
                </a:lnTo>
                <a:lnTo>
                  <a:pt x="679279" y="447030"/>
                </a:lnTo>
                <a:lnTo>
                  <a:pt x="1372670" y="447030"/>
                </a:lnTo>
                <a:lnTo>
                  <a:pt x="1372670" y="45790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391229" y="136125"/>
            <a:ext cx="1072058" cy="627044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7591253" y="317100"/>
            <a:ext cx="672465" cy="227329"/>
          </a:xfrm>
          <a:custGeom>
            <a:avLst/>
            <a:gdLst/>
            <a:ahLst/>
            <a:cxnLst/>
            <a:rect l="l" t="t" r="r" b="b"/>
            <a:pathLst>
              <a:path w="672465" h="227329">
                <a:moveTo>
                  <a:pt x="31128" y="61894"/>
                </a:moveTo>
                <a:lnTo>
                  <a:pt x="19023" y="59453"/>
                </a:lnTo>
                <a:lnTo>
                  <a:pt x="9127" y="52798"/>
                </a:lnTo>
                <a:lnTo>
                  <a:pt x="2450" y="42937"/>
                </a:lnTo>
                <a:lnTo>
                  <a:pt x="29" y="31020"/>
                </a:lnTo>
                <a:lnTo>
                  <a:pt x="0" y="30874"/>
                </a:lnTo>
                <a:lnTo>
                  <a:pt x="2450" y="18895"/>
                </a:lnTo>
                <a:lnTo>
                  <a:pt x="9127" y="9077"/>
                </a:lnTo>
                <a:lnTo>
                  <a:pt x="19023" y="2439"/>
                </a:lnTo>
                <a:lnTo>
                  <a:pt x="31128" y="0"/>
                </a:lnTo>
                <a:lnTo>
                  <a:pt x="41914" y="1968"/>
                </a:lnTo>
                <a:lnTo>
                  <a:pt x="51091" y="7374"/>
                </a:lnTo>
                <a:lnTo>
                  <a:pt x="54164" y="11016"/>
                </a:lnTo>
                <a:lnTo>
                  <a:pt x="31128" y="11016"/>
                </a:lnTo>
                <a:lnTo>
                  <a:pt x="23243" y="12592"/>
                </a:lnTo>
                <a:lnTo>
                  <a:pt x="16818" y="16887"/>
                </a:lnTo>
                <a:lnTo>
                  <a:pt x="12493" y="23247"/>
                </a:lnTo>
                <a:lnTo>
                  <a:pt x="10939" y="30874"/>
                </a:lnTo>
                <a:lnTo>
                  <a:pt x="10909" y="31020"/>
                </a:lnTo>
                <a:lnTo>
                  <a:pt x="12493" y="38876"/>
                </a:lnTo>
                <a:lnTo>
                  <a:pt x="16818" y="45279"/>
                </a:lnTo>
                <a:lnTo>
                  <a:pt x="23243" y="49588"/>
                </a:lnTo>
                <a:lnTo>
                  <a:pt x="31128" y="51167"/>
                </a:lnTo>
                <a:lnTo>
                  <a:pt x="53968" y="51167"/>
                </a:lnTo>
                <a:lnTo>
                  <a:pt x="51091" y="54574"/>
                </a:lnTo>
                <a:lnTo>
                  <a:pt x="41914" y="59946"/>
                </a:lnTo>
                <a:lnTo>
                  <a:pt x="31128" y="61894"/>
                </a:lnTo>
                <a:close/>
              </a:path>
              <a:path w="672465" h="227329">
                <a:moveTo>
                  <a:pt x="53968" y="51167"/>
                </a:moveTo>
                <a:lnTo>
                  <a:pt x="40290" y="51167"/>
                </a:lnTo>
                <a:lnTo>
                  <a:pt x="48001" y="45080"/>
                </a:lnTo>
                <a:lnTo>
                  <a:pt x="50328" y="36527"/>
                </a:lnTo>
                <a:lnTo>
                  <a:pt x="50910" y="34788"/>
                </a:lnTo>
                <a:lnTo>
                  <a:pt x="51200" y="32904"/>
                </a:lnTo>
                <a:lnTo>
                  <a:pt x="51200" y="29134"/>
                </a:lnTo>
                <a:lnTo>
                  <a:pt x="50910" y="27395"/>
                </a:lnTo>
                <a:lnTo>
                  <a:pt x="50328" y="25655"/>
                </a:lnTo>
                <a:lnTo>
                  <a:pt x="48146" y="17249"/>
                </a:lnTo>
                <a:lnTo>
                  <a:pt x="40290" y="11016"/>
                </a:lnTo>
                <a:lnTo>
                  <a:pt x="54164" y="11016"/>
                </a:lnTo>
                <a:lnTo>
                  <a:pt x="57923" y="15471"/>
                </a:lnTo>
                <a:lnTo>
                  <a:pt x="61673" y="25511"/>
                </a:lnTo>
                <a:lnTo>
                  <a:pt x="477533" y="25511"/>
                </a:lnTo>
                <a:lnTo>
                  <a:pt x="488442" y="36383"/>
                </a:lnTo>
                <a:lnTo>
                  <a:pt x="61673" y="36383"/>
                </a:lnTo>
                <a:lnTo>
                  <a:pt x="57923" y="46484"/>
                </a:lnTo>
                <a:lnTo>
                  <a:pt x="53968" y="51167"/>
                </a:lnTo>
                <a:close/>
              </a:path>
              <a:path w="672465" h="227329">
                <a:moveTo>
                  <a:pt x="646407" y="226994"/>
                </a:moveTo>
                <a:lnTo>
                  <a:pt x="636455" y="224985"/>
                </a:lnTo>
                <a:lnTo>
                  <a:pt x="628316" y="219511"/>
                </a:lnTo>
                <a:lnTo>
                  <a:pt x="622823" y="211400"/>
                </a:lnTo>
                <a:lnTo>
                  <a:pt x="620807" y="201481"/>
                </a:lnTo>
                <a:lnTo>
                  <a:pt x="620807" y="196409"/>
                </a:lnTo>
                <a:lnTo>
                  <a:pt x="622305" y="191564"/>
                </a:lnTo>
                <a:lnTo>
                  <a:pt x="624880" y="187712"/>
                </a:lnTo>
                <a:lnTo>
                  <a:pt x="473023" y="36383"/>
                </a:lnTo>
                <a:lnTo>
                  <a:pt x="488442" y="36383"/>
                </a:lnTo>
                <a:lnTo>
                  <a:pt x="632588" y="180030"/>
                </a:lnTo>
                <a:lnTo>
                  <a:pt x="659408" y="180030"/>
                </a:lnTo>
                <a:lnTo>
                  <a:pt x="664499" y="183454"/>
                </a:lnTo>
                <a:lnTo>
                  <a:pt x="669992" y="191564"/>
                </a:lnTo>
                <a:lnTo>
                  <a:pt x="672008" y="201481"/>
                </a:lnTo>
                <a:lnTo>
                  <a:pt x="669992" y="211400"/>
                </a:lnTo>
                <a:lnTo>
                  <a:pt x="664499" y="219511"/>
                </a:lnTo>
                <a:lnTo>
                  <a:pt x="656360" y="224985"/>
                </a:lnTo>
                <a:lnTo>
                  <a:pt x="646407" y="226994"/>
                </a:lnTo>
                <a:close/>
              </a:path>
              <a:path w="672465" h="227329">
                <a:moveTo>
                  <a:pt x="659408" y="180030"/>
                </a:moveTo>
                <a:lnTo>
                  <a:pt x="632588" y="180030"/>
                </a:lnTo>
                <a:lnTo>
                  <a:pt x="636661" y="177420"/>
                </a:lnTo>
                <a:lnTo>
                  <a:pt x="641315" y="175971"/>
                </a:lnTo>
                <a:lnTo>
                  <a:pt x="646407" y="175971"/>
                </a:lnTo>
                <a:lnTo>
                  <a:pt x="656360" y="177980"/>
                </a:lnTo>
                <a:lnTo>
                  <a:pt x="659408" y="1800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596905" y="14510"/>
            <a:ext cx="1547094" cy="992031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7796930" y="195485"/>
            <a:ext cx="1187450" cy="592455"/>
          </a:xfrm>
          <a:custGeom>
            <a:avLst/>
            <a:gdLst/>
            <a:ahLst/>
            <a:cxnLst/>
            <a:rect l="l" t="t" r="r" b="b"/>
            <a:pathLst>
              <a:path w="1187450" h="592455">
                <a:moveTo>
                  <a:pt x="30981" y="61748"/>
                </a:moveTo>
                <a:lnTo>
                  <a:pt x="18960" y="59309"/>
                </a:lnTo>
                <a:lnTo>
                  <a:pt x="9108" y="52670"/>
                </a:lnTo>
                <a:lnTo>
                  <a:pt x="2447" y="42852"/>
                </a:lnTo>
                <a:lnTo>
                  <a:pt x="0" y="30874"/>
                </a:lnTo>
                <a:lnTo>
                  <a:pt x="2447" y="18834"/>
                </a:lnTo>
                <a:lnTo>
                  <a:pt x="9108" y="9023"/>
                </a:lnTo>
                <a:lnTo>
                  <a:pt x="18960" y="2418"/>
                </a:lnTo>
                <a:lnTo>
                  <a:pt x="30981" y="0"/>
                </a:lnTo>
                <a:lnTo>
                  <a:pt x="41851" y="1925"/>
                </a:lnTo>
                <a:lnTo>
                  <a:pt x="51072" y="7247"/>
                </a:lnTo>
                <a:lnTo>
                  <a:pt x="54158" y="10871"/>
                </a:lnTo>
                <a:lnTo>
                  <a:pt x="30981" y="10871"/>
                </a:lnTo>
                <a:lnTo>
                  <a:pt x="23181" y="12447"/>
                </a:lnTo>
                <a:lnTo>
                  <a:pt x="16798" y="16741"/>
                </a:lnTo>
                <a:lnTo>
                  <a:pt x="12489" y="23101"/>
                </a:lnTo>
                <a:lnTo>
                  <a:pt x="10907" y="30874"/>
                </a:lnTo>
                <a:lnTo>
                  <a:pt x="12489" y="38647"/>
                </a:lnTo>
                <a:lnTo>
                  <a:pt x="16798" y="45007"/>
                </a:lnTo>
                <a:lnTo>
                  <a:pt x="23181" y="49301"/>
                </a:lnTo>
                <a:lnTo>
                  <a:pt x="30981" y="50878"/>
                </a:lnTo>
                <a:lnTo>
                  <a:pt x="54029" y="50878"/>
                </a:lnTo>
                <a:lnTo>
                  <a:pt x="51072" y="54374"/>
                </a:lnTo>
                <a:lnTo>
                  <a:pt x="41851" y="59780"/>
                </a:lnTo>
                <a:lnTo>
                  <a:pt x="30981" y="61748"/>
                </a:lnTo>
                <a:close/>
              </a:path>
              <a:path w="1187450" h="592455">
                <a:moveTo>
                  <a:pt x="54029" y="50878"/>
                </a:moveTo>
                <a:lnTo>
                  <a:pt x="40290" y="50878"/>
                </a:lnTo>
                <a:lnTo>
                  <a:pt x="48144" y="44645"/>
                </a:lnTo>
                <a:lnTo>
                  <a:pt x="50326" y="36238"/>
                </a:lnTo>
                <a:lnTo>
                  <a:pt x="50908" y="34497"/>
                </a:lnTo>
                <a:lnTo>
                  <a:pt x="51199" y="32758"/>
                </a:lnTo>
                <a:lnTo>
                  <a:pt x="51199" y="28990"/>
                </a:lnTo>
                <a:lnTo>
                  <a:pt x="50908" y="27106"/>
                </a:lnTo>
                <a:lnTo>
                  <a:pt x="50326" y="25366"/>
                </a:lnTo>
                <a:lnTo>
                  <a:pt x="47999" y="16958"/>
                </a:lnTo>
                <a:lnTo>
                  <a:pt x="40290" y="10871"/>
                </a:lnTo>
                <a:lnTo>
                  <a:pt x="54158" y="10871"/>
                </a:lnTo>
                <a:lnTo>
                  <a:pt x="57920" y="15288"/>
                </a:lnTo>
                <a:lnTo>
                  <a:pt x="61673" y="25366"/>
                </a:lnTo>
                <a:lnTo>
                  <a:pt x="312002" y="25366"/>
                </a:lnTo>
                <a:lnTo>
                  <a:pt x="322906" y="36238"/>
                </a:lnTo>
                <a:lnTo>
                  <a:pt x="61673" y="36238"/>
                </a:lnTo>
                <a:lnTo>
                  <a:pt x="57920" y="46278"/>
                </a:lnTo>
                <a:lnTo>
                  <a:pt x="54029" y="50878"/>
                </a:lnTo>
                <a:close/>
              </a:path>
              <a:path w="1187450" h="592455">
                <a:moveTo>
                  <a:pt x="1156085" y="591981"/>
                </a:moveTo>
                <a:lnTo>
                  <a:pt x="1145238" y="590013"/>
                </a:lnTo>
                <a:lnTo>
                  <a:pt x="1136067" y="584607"/>
                </a:lnTo>
                <a:lnTo>
                  <a:pt x="1129269" y="576510"/>
                </a:lnTo>
                <a:lnTo>
                  <a:pt x="1125539" y="566470"/>
                </a:lnTo>
                <a:lnTo>
                  <a:pt x="673898" y="566470"/>
                </a:lnTo>
                <a:lnTo>
                  <a:pt x="564077" y="457175"/>
                </a:lnTo>
                <a:lnTo>
                  <a:pt x="564077" y="292077"/>
                </a:lnTo>
                <a:lnTo>
                  <a:pt x="307493" y="36238"/>
                </a:lnTo>
                <a:lnTo>
                  <a:pt x="322906" y="36238"/>
                </a:lnTo>
                <a:lnTo>
                  <a:pt x="574988" y="287583"/>
                </a:lnTo>
                <a:lnTo>
                  <a:pt x="574988" y="452683"/>
                </a:lnTo>
                <a:lnTo>
                  <a:pt x="678407" y="555598"/>
                </a:lnTo>
                <a:lnTo>
                  <a:pt x="1136885" y="555598"/>
                </a:lnTo>
                <a:lnTo>
                  <a:pt x="1136303" y="557337"/>
                </a:lnTo>
                <a:lnTo>
                  <a:pt x="1136012" y="559221"/>
                </a:lnTo>
                <a:lnTo>
                  <a:pt x="1136012" y="562991"/>
                </a:lnTo>
                <a:lnTo>
                  <a:pt x="1136303" y="564730"/>
                </a:lnTo>
                <a:lnTo>
                  <a:pt x="1136885" y="566470"/>
                </a:lnTo>
                <a:lnTo>
                  <a:pt x="1139067" y="574876"/>
                </a:lnTo>
                <a:lnTo>
                  <a:pt x="1146921" y="581109"/>
                </a:lnTo>
                <a:lnTo>
                  <a:pt x="1179224" y="581109"/>
                </a:lnTo>
                <a:lnTo>
                  <a:pt x="1178013" y="582904"/>
                </a:lnTo>
                <a:lnTo>
                  <a:pt x="1168167" y="589542"/>
                </a:lnTo>
                <a:lnTo>
                  <a:pt x="1156085" y="591981"/>
                </a:lnTo>
                <a:close/>
              </a:path>
              <a:path w="1187450" h="592455">
                <a:moveTo>
                  <a:pt x="1136885" y="555598"/>
                </a:moveTo>
                <a:lnTo>
                  <a:pt x="1125539" y="555598"/>
                </a:lnTo>
                <a:lnTo>
                  <a:pt x="1129269" y="545497"/>
                </a:lnTo>
                <a:lnTo>
                  <a:pt x="1136067" y="537406"/>
                </a:lnTo>
                <a:lnTo>
                  <a:pt x="1145238" y="532034"/>
                </a:lnTo>
                <a:lnTo>
                  <a:pt x="1156085" y="530086"/>
                </a:lnTo>
                <a:lnTo>
                  <a:pt x="1168167" y="532528"/>
                </a:lnTo>
                <a:lnTo>
                  <a:pt x="1178013" y="539182"/>
                </a:lnTo>
                <a:lnTo>
                  <a:pt x="1179206" y="540958"/>
                </a:lnTo>
                <a:lnTo>
                  <a:pt x="1146921" y="540958"/>
                </a:lnTo>
                <a:lnTo>
                  <a:pt x="1139213" y="547045"/>
                </a:lnTo>
                <a:lnTo>
                  <a:pt x="1136885" y="555598"/>
                </a:lnTo>
                <a:close/>
              </a:path>
              <a:path w="1187450" h="592455">
                <a:moveTo>
                  <a:pt x="1179224" y="581109"/>
                </a:moveTo>
                <a:lnTo>
                  <a:pt x="1156085" y="581109"/>
                </a:lnTo>
                <a:lnTo>
                  <a:pt x="1163885" y="579533"/>
                </a:lnTo>
                <a:lnTo>
                  <a:pt x="1170267" y="575239"/>
                </a:lnTo>
                <a:lnTo>
                  <a:pt x="1174576" y="568880"/>
                </a:lnTo>
                <a:lnTo>
                  <a:pt x="1176158" y="561107"/>
                </a:lnTo>
                <a:lnTo>
                  <a:pt x="1174576" y="553250"/>
                </a:lnTo>
                <a:lnTo>
                  <a:pt x="1170267" y="546847"/>
                </a:lnTo>
                <a:lnTo>
                  <a:pt x="1163885" y="542537"/>
                </a:lnTo>
                <a:lnTo>
                  <a:pt x="1156085" y="540958"/>
                </a:lnTo>
                <a:lnTo>
                  <a:pt x="1179206" y="540958"/>
                </a:lnTo>
                <a:lnTo>
                  <a:pt x="1184640" y="549044"/>
                </a:lnTo>
                <a:lnTo>
                  <a:pt x="1187067" y="561107"/>
                </a:lnTo>
                <a:lnTo>
                  <a:pt x="1184640" y="573085"/>
                </a:lnTo>
                <a:lnTo>
                  <a:pt x="1179224" y="5811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bg 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895514" y="791014"/>
            <a:ext cx="2248485" cy="806349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7095539" y="971989"/>
            <a:ext cx="2048510" cy="406400"/>
          </a:xfrm>
          <a:custGeom>
            <a:avLst/>
            <a:gdLst/>
            <a:ahLst/>
            <a:cxnLst/>
            <a:rect l="l" t="t" r="r" b="b"/>
            <a:pathLst>
              <a:path w="2048509" h="406400">
                <a:moveTo>
                  <a:pt x="2048461" y="406299"/>
                </a:moveTo>
                <a:lnTo>
                  <a:pt x="911429" y="406299"/>
                </a:lnTo>
                <a:lnTo>
                  <a:pt x="534697" y="31020"/>
                </a:lnTo>
                <a:lnTo>
                  <a:pt x="50618" y="31020"/>
                </a:lnTo>
                <a:lnTo>
                  <a:pt x="47323" y="38976"/>
                </a:lnTo>
                <a:lnTo>
                  <a:pt x="41709" y="45315"/>
                </a:lnTo>
                <a:lnTo>
                  <a:pt x="34295" y="49507"/>
                </a:lnTo>
                <a:lnTo>
                  <a:pt x="25599" y="51022"/>
                </a:lnTo>
                <a:lnTo>
                  <a:pt x="15647" y="49013"/>
                </a:lnTo>
                <a:lnTo>
                  <a:pt x="7509" y="43539"/>
                </a:lnTo>
                <a:lnTo>
                  <a:pt x="2015" y="35429"/>
                </a:lnTo>
                <a:lnTo>
                  <a:pt x="0" y="25511"/>
                </a:lnTo>
                <a:lnTo>
                  <a:pt x="2015" y="15593"/>
                </a:lnTo>
                <a:lnTo>
                  <a:pt x="7509" y="7483"/>
                </a:lnTo>
                <a:lnTo>
                  <a:pt x="15647" y="2008"/>
                </a:lnTo>
                <a:lnTo>
                  <a:pt x="25599" y="0"/>
                </a:lnTo>
                <a:lnTo>
                  <a:pt x="34377" y="1515"/>
                </a:lnTo>
                <a:lnTo>
                  <a:pt x="41818" y="5707"/>
                </a:lnTo>
                <a:lnTo>
                  <a:pt x="47404" y="12047"/>
                </a:lnTo>
                <a:lnTo>
                  <a:pt x="50618" y="20003"/>
                </a:lnTo>
                <a:lnTo>
                  <a:pt x="539206" y="20003"/>
                </a:lnTo>
                <a:lnTo>
                  <a:pt x="915938" y="395427"/>
                </a:lnTo>
                <a:lnTo>
                  <a:pt x="2048461" y="395427"/>
                </a:lnTo>
                <a:lnTo>
                  <a:pt x="2048461" y="4062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3" name="bg 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558347" y="418779"/>
            <a:ext cx="2585652" cy="964636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6758372" y="599754"/>
            <a:ext cx="2385695" cy="565150"/>
          </a:xfrm>
          <a:custGeom>
            <a:avLst/>
            <a:gdLst/>
            <a:ahLst/>
            <a:cxnLst/>
            <a:rect l="l" t="t" r="r" b="b"/>
            <a:pathLst>
              <a:path w="2385695" h="565150">
                <a:moveTo>
                  <a:pt x="94837" y="61750"/>
                </a:moveTo>
                <a:lnTo>
                  <a:pt x="82816" y="59331"/>
                </a:lnTo>
                <a:lnTo>
                  <a:pt x="72963" y="52726"/>
                </a:lnTo>
                <a:lnTo>
                  <a:pt x="66302" y="42914"/>
                </a:lnTo>
                <a:lnTo>
                  <a:pt x="63854" y="30874"/>
                </a:lnTo>
                <a:lnTo>
                  <a:pt x="66302" y="18834"/>
                </a:lnTo>
                <a:lnTo>
                  <a:pt x="72963" y="9023"/>
                </a:lnTo>
                <a:lnTo>
                  <a:pt x="82816" y="2418"/>
                </a:lnTo>
                <a:lnTo>
                  <a:pt x="94837" y="0"/>
                </a:lnTo>
                <a:lnTo>
                  <a:pt x="105707" y="1925"/>
                </a:lnTo>
                <a:lnTo>
                  <a:pt x="114928" y="7247"/>
                </a:lnTo>
                <a:lnTo>
                  <a:pt x="118014" y="10871"/>
                </a:lnTo>
                <a:lnTo>
                  <a:pt x="94837" y="10871"/>
                </a:lnTo>
                <a:lnTo>
                  <a:pt x="87037" y="12447"/>
                </a:lnTo>
                <a:lnTo>
                  <a:pt x="80655" y="16741"/>
                </a:lnTo>
                <a:lnTo>
                  <a:pt x="76345" y="23101"/>
                </a:lnTo>
                <a:lnTo>
                  <a:pt x="74763" y="30874"/>
                </a:lnTo>
                <a:lnTo>
                  <a:pt x="76345" y="38647"/>
                </a:lnTo>
                <a:lnTo>
                  <a:pt x="80655" y="45007"/>
                </a:lnTo>
                <a:lnTo>
                  <a:pt x="87037" y="49301"/>
                </a:lnTo>
                <a:lnTo>
                  <a:pt x="94837" y="50878"/>
                </a:lnTo>
                <a:lnTo>
                  <a:pt x="117934" y="50878"/>
                </a:lnTo>
                <a:lnTo>
                  <a:pt x="114928" y="54430"/>
                </a:lnTo>
                <a:lnTo>
                  <a:pt x="105707" y="59802"/>
                </a:lnTo>
                <a:lnTo>
                  <a:pt x="94837" y="61750"/>
                </a:lnTo>
                <a:close/>
              </a:path>
              <a:path w="2385695" h="565150">
                <a:moveTo>
                  <a:pt x="117934" y="50878"/>
                </a:moveTo>
                <a:lnTo>
                  <a:pt x="104146" y="50878"/>
                </a:lnTo>
                <a:lnTo>
                  <a:pt x="112000" y="44645"/>
                </a:lnTo>
                <a:lnTo>
                  <a:pt x="114182" y="36238"/>
                </a:lnTo>
                <a:lnTo>
                  <a:pt x="114764" y="34499"/>
                </a:lnTo>
                <a:lnTo>
                  <a:pt x="115055" y="32759"/>
                </a:lnTo>
                <a:lnTo>
                  <a:pt x="115055" y="28990"/>
                </a:lnTo>
                <a:lnTo>
                  <a:pt x="114764" y="27106"/>
                </a:lnTo>
                <a:lnTo>
                  <a:pt x="114182" y="25366"/>
                </a:lnTo>
                <a:lnTo>
                  <a:pt x="111855" y="16958"/>
                </a:lnTo>
                <a:lnTo>
                  <a:pt x="104146" y="10871"/>
                </a:lnTo>
                <a:lnTo>
                  <a:pt x="118014" y="10871"/>
                </a:lnTo>
                <a:lnTo>
                  <a:pt x="121775" y="15288"/>
                </a:lnTo>
                <a:lnTo>
                  <a:pt x="125527" y="25366"/>
                </a:lnTo>
                <a:lnTo>
                  <a:pt x="1165250" y="25366"/>
                </a:lnTo>
                <a:lnTo>
                  <a:pt x="1176160" y="36238"/>
                </a:lnTo>
                <a:lnTo>
                  <a:pt x="125527" y="36238"/>
                </a:lnTo>
                <a:lnTo>
                  <a:pt x="121775" y="46339"/>
                </a:lnTo>
                <a:lnTo>
                  <a:pt x="117934" y="50878"/>
                </a:lnTo>
                <a:close/>
              </a:path>
              <a:path w="2385695" h="565150">
                <a:moveTo>
                  <a:pt x="2385628" y="485732"/>
                </a:moveTo>
                <a:lnTo>
                  <a:pt x="1611800" y="485732"/>
                </a:lnTo>
                <a:lnTo>
                  <a:pt x="1160741" y="36238"/>
                </a:lnTo>
                <a:lnTo>
                  <a:pt x="1176160" y="36238"/>
                </a:lnTo>
                <a:lnTo>
                  <a:pt x="1616310" y="474860"/>
                </a:lnTo>
                <a:lnTo>
                  <a:pt x="2385628" y="474860"/>
                </a:lnTo>
                <a:lnTo>
                  <a:pt x="2385628" y="485732"/>
                </a:lnTo>
                <a:close/>
              </a:path>
              <a:path w="2385695" h="565150">
                <a:moveTo>
                  <a:pt x="524531" y="230327"/>
                </a:moveTo>
                <a:lnTo>
                  <a:pt x="509097" y="230327"/>
                </a:lnTo>
                <a:lnTo>
                  <a:pt x="605970" y="133935"/>
                </a:lnTo>
                <a:lnTo>
                  <a:pt x="1135867" y="133935"/>
                </a:lnTo>
                <a:lnTo>
                  <a:pt x="1146777" y="144806"/>
                </a:lnTo>
                <a:lnTo>
                  <a:pt x="610479" y="144806"/>
                </a:lnTo>
                <a:lnTo>
                  <a:pt x="524531" y="230327"/>
                </a:lnTo>
                <a:close/>
              </a:path>
              <a:path w="2385695" h="565150">
                <a:moveTo>
                  <a:pt x="1375434" y="531972"/>
                </a:moveTo>
                <a:lnTo>
                  <a:pt x="1363414" y="529530"/>
                </a:lnTo>
                <a:lnTo>
                  <a:pt x="1353561" y="522876"/>
                </a:lnTo>
                <a:lnTo>
                  <a:pt x="1346899" y="513014"/>
                </a:lnTo>
                <a:lnTo>
                  <a:pt x="1344451" y="500952"/>
                </a:lnTo>
                <a:lnTo>
                  <a:pt x="1344548" y="494138"/>
                </a:lnTo>
                <a:lnTo>
                  <a:pt x="1346488" y="488340"/>
                </a:lnTo>
                <a:lnTo>
                  <a:pt x="1350018" y="483557"/>
                </a:lnTo>
                <a:lnTo>
                  <a:pt x="1350124" y="483413"/>
                </a:lnTo>
                <a:lnTo>
                  <a:pt x="1103575" y="237720"/>
                </a:lnTo>
                <a:lnTo>
                  <a:pt x="1044812" y="237720"/>
                </a:lnTo>
                <a:lnTo>
                  <a:pt x="951574" y="144806"/>
                </a:lnTo>
                <a:lnTo>
                  <a:pt x="966993" y="144806"/>
                </a:lnTo>
                <a:lnTo>
                  <a:pt x="1049466" y="226848"/>
                </a:lnTo>
                <a:lnTo>
                  <a:pt x="1108231" y="226848"/>
                </a:lnTo>
                <a:lnTo>
                  <a:pt x="1278559" y="396731"/>
                </a:lnTo>
                <a:lnTo>
                  <a:pt x="1419797" y="396731"/>
                </a:lnTo>
                <a:lnTo>
                  <a:pt x="1430707" y="407603"/>
                </a:lnTo>
                <a:lnTo>
                  <a:pt x="1289470" y="407603"/>
                </a:lnTo>
                <a:lnTo>
                  <a:pt x="1357833" y="475731"/>
                </a:lnTo>
                <a:lnTo>
                  <a:pt x="1392330" y="475731"/>
                </a:lnTo>
                <a:lnTo>
                  <a:pt x="1397434" y="479155"/>
                </a:lnTo>
                <a:lnTo>
                  <a:pt x="1398653" y="480948"/>
                </a:lnTo>
                <a:lnTo>
                  <a:pt x="1371943" y="480948"/>
                </a:lnTo>
                <a:lnTo>
                  <a:pt x="1368597" y="481818"/>
                </a:lnTo>
                <a:lnTo>
                  <a:pt x="1365688" y="483557"/>
                </a:lnTo>
                <a:lnTo>
                  <a:pt x="1362489" y="485297"/>
                </a:lnTo>
                <a:lnTo>
                  <a:pt x="1359725" y="488051"/>
                </a:lnTo>
                <a:lnTo>
                  <a:pt x="1357980" y="491239"/>
                </a:lnTo>
                <a:lnTo>
                  <a:pt x="1356234" y="494138"/>
                </a:lnTo>
                <a:lnTo>
                  <a:pt x="1355360" y="497473"/>
                </a:lnTo>
                <a:lnTo>
                  <a:pt x="1355360" y="500952"/>
                </a:lnTo>
                <a:lnTo>
                  <a:pt x="1356942" y="508808"/>
                </a:lnTo>
                <a:lnTo>
                  <a:pt x="1361252" y="515211"/>
                </a:lnTo>
                <a:lnTo>
                  <a:pt x="1367634" y="519521"/>
                </a:lnTo>
                <a:lnTo>
                  <a:pt x="1375434" y="521100"/>
                </a:lnTo>
                <a:lnTo>
                  <a:pt x="1398636" y="521100"/>
                </a:lnTo>
                <a:lnTo>
                  <a:pt x="1397434" y="522876"/>
                </a:lnTo>
                <a:lnTo>
                  <a:pt x="1387539" y="529530"/>
                </a:lnTo>
                <a:lnTo>
                  <a:pt x="1375434" y="531972"/>
                </a:lnTo>
                <a:close/>
              </a:path>
              <a:path w="2385695" h="565150">
                <a:moveTo>
                  <a:pt x="1283943" y="320052"/>
                </a:moveTo>
                <a:lnTo>
                  <a:pt x="1271838" y="317633"/>
                </a:lnTo>
                <a:lnTo>
                  <a:pt x="1261942" y="311029"/>
                </a:lnTo>
                <a:lnTo>
                  <a:pt x="1255264" y="301218"/>
                </a:lnTo>
                <a:lnTo>
                  <a:pt x="1252814" y="289178"/>
                </a:lnTo>
                <a:lnTo>
                  <a:pt x="1252912" y="282365"/>
                </a:lnTo>
                <a:lnTo>
                  <a:pt x="1254852" y="276567"/>
                </a:lnTo>
                <a:lnTo>
                  <a:pt x="1258380" y="271784"/>
                </a:lnTo>
                <a:lnTo>
                  <a:pt x="1258487" y="271638"/>
                </a:lnTo>
                <a:lnTo>
                  <a:pt x="1131358" y="144806"/>
                </a:lnTo>
                <a:lnTo>
                  <a:pt x="1146777" y="144806"/>
                </a:lnTo>
                <a:lnTo>
                  <a:pt x="1266196" y="263811"/>
                </a:lnTo>
                <a:lnTo>
                  <a:pt x="1300571" y="263811"/>
                </a:lnTo>
                <a:lnTo>
                  <a:pt x="1305815" y="267326"/>
                </a:lnTo>
                <a:lnTo>
                  <a:pt x="1307070" y="269174"/>
                </a:lnTo>
                <a:lnTo>
                  <a:pt x="1280305" y="269174"/>
                </a:lnTo>
                <a:lnTo>
                  <a:pt x="1276959" y="270044"/>
                </a:lnTo>
                <a:lnTo>
                  <a:pt x="1274050" y="271784"/>
                </a:lnTo>
                <a:lnTo>
                  <a:pt x="1270705" y="273523"/>
                </a:lnTo>
                <a:lnTo>
                  <a:pt x="1268087" y="276276"/>
                </a:lnTo>
                <a:lnTo>
                  <a:pt x="1266341" y="279466"/>
                </a:lnTo>
                <a:lnTo>
                  <a:pt x="1264596" y="282365"/>
                </a:lnTo>
                <a:lnTo>
                  <a:pt x="1263723" y="285699"/>
                </a:lnTo>
                <a:lnTo>
                  <a:pt x="1263723" y="289178"/>
                </a:lnTo>
                <a:lnTo>
                  <a:pt x="1265308" y="296951"/>
                </a:lnTo>
                <a:lnTo>
                  <a:pt x="1269633" y="303310"/>
                </a:lnTo>
                <a:lnTo>
                  <a:pt x="1276058" y="307604"/>
                </a:lnTo>
                <a:lnTo>
                  <a:pt x="1283943" y="309180"/>
                </a:lnTo>
                <a:lnTo>
                  <a:pt x="1307070" y="309180"/>
                </a:lnTo>
                <a:lnTo>
                  <a:pt x="1305815" y="311029"/>
                </a:lnTo>
                <a:lnTo>
                  <a:pt x="1295963" y="317633"/>
                </a:lnTo>
                <a:lnTo>
                  <a:pt x="1283943" y="320052"/>
                </a:lnTo>
                <a:close/>
              </a:path>
              <a:path w="2385695" h="565150">
                <a:moveTo>
                  <a:pt x="30981" y="266421"/>
                </a:moveTo>
                <a:lnTo>
                  <a:pt x="18899" y="264002"/>
                </a:lnTo>
                <a:lnTo>
                  <a:pt x="9054" y="257397"/>
                </a:lnTo>
                <a:lnTo>
                  <a:pt x="2427" y="247586"/>
                </a:lnTo>
                <a:lnTo>
                  <a:pt x="0" y="235545"/>
                </a:lnTo>
                <a:lnTo>
                  <a:pt x="2427" y="223506"/>
                </a:lnTo>
                <a:lnTo>
                  <a:pt x="9054" y="213694"/>
                </a:lnTo>
                <a:lnTo>
                  <a:pt x="18899" y="207090"/>
                </a:lnTo>
                <a:lnTo>
                  <a:pt x="30981" y="204671"/>
                </a:lnTo>
                <a:lnTo>
                  <a:pt x="41850" y="206621"/>
                </a:lnTo>
                <a:lnTo>
                  <a:pt x="51054" y="212009"/>
                </a:lnTo>
                <a:lnTo>
                  <a:pt x="54010" y="215543"/>
                </a:lnTo>
                <a:lnTo>
                  <a:pt x="30981" y="215543"/>
                </a:lnTo>
                <a:lnTo>
                  <a:pt x="23181" y="217119"/>
                </a:lnTo>
                <a:lnTo>
                  <a:pt x="16799" y="221413"/>
                </a:lnTo>
                <a:lnTo>
                  <a:pt x="12490" y="227772"/>
                </a:lnTo>
                <a:lnTo>
                  <a:pt x="10908" y="235545"/>
                </a:lnTo>
                <a:lnTo>
                  <a:pt x="12490" y="243318"/>
                </a:lnTo>
                <a:lnTo>
                  <a:pt x="16799" y="249678"/>
                </a:lnTo>
                <a:lnTo>
                  <a:pt x="23181" y="253973"/>
                </a:lnTo>
                <a:lnTo>
                  <a:pt x="30981" y="255549"/>
                </a:lnTo>
                <a:lnTo>
                  <a:pt x="53999" y="255549"/>
                </a:lnTo>
                <a:lnTo>
                  <a:pt x="50891" y="259191"/>
                </a:lnTo>
                <a:lnTo>
                  <a:pt x="41748" y="264498"/>
                </a:lnTo>
                <a:lnTo>
                  <a:pt x="30981" y="266421"/>
                </a:lnTo>
                <a:close/>
              </a:path>
              <a:path w="2385695" h="565150">
                <a:moveTo>
                  <a:pt x="53999" y="255549"/>
                </a:moveTo>
                <a:lnTo>
                  <a:pt x="39999" y="255549"/>
                </a:lnTo>
                <a:lnTo>
                  <a:pt x="47709" y="249461"/>
                </a:lnTo>
                <a:lnTo>
                  <a:pt x="50181" y="241199"/>
                </a:lnTo>
                <a:lnTo>
                  <a:pt x="50763" y="239459"/>
                </a:lnTo>
                <a:lnTo>
                  <a:pt x="51032" y="237720"/>
                </a:lnTo>
                <a:lnTo>
                  <a:pt x="51054" y="233806"/>
                </a:lnTo>
                <a:lnTo>
                  <a:pt x="50763" y="232066"/>
                </a:lnTo>
                <a:lnTo>
                  <a:pt x="50327" y="230327"/>
                </a:lnTo>
                <a:lnTo>
                  <a:pt x="47999" y="221776"/>
                </a:lnTo>
                <a:lnTo>
                  <a:pt x="40291" y="215543"/>
                </a:lnTo>
                <a:lnTo>
                  <a:pt x="54010" y="215543"/>
                </a:lnTo>
                <a:lnTo>
                  <a:pt x="57859" y="220142"/>
                </a:lnTo>
                <a:lnTo>
                  <a:pt x="61527" y="230327"/>
                </a:lnTo>
                <a:lnTo>
                  <a:pt x="524531" y="230327"/>
                </a:lnTo>
                <a:lnTo>
                  <a:pt x="513605" y="241199"/>
                </a:lnTo>
                <a:lnTo>
                  <a:pt x="61527" y="241199"/>
                </a:lnTo>
                <a:lnTo>
                  <a:pt x="57716" y="251194"/>
                </a:lnTo>
                <a:lnTo>
                  <a:pt x="53999" y="255549"/>
                </a:lnTo>
                <a:close/>
              </a:path>
              <a:path w="2385695" h="565150">
                <a:moveTo>
                  <a:pt x="1300571" y="263811"/>
                </a:moveTo>
                <a:lnTo>
                  <a:pt x="1266196" y="263811"/>
                </a:lnTo>
                <a:lnTo>
                  <a:pt x="1271142" y="260332"/>
                </a:lnTo>
                <a:lnTo>
                  <a:pt x="1277251" y="258304"/>
                </a:lnTo>
                <a:lnTo>
                  <a:pt x="1283943" y="258304"/>
                </a:lnTo>
                <a:lnTo>
                  <a:pt x="1295963" y="260722"/>
                </a:lnTo>
                <a:lnTo>
                  <a:pt x="1300571" y="263811"/>
                </a:lnTo>
                <a:close/>
              </a:path>
              <a:path w="2385695" h="565150">
                <a:moveTo>
                  <a:pt x="1307070" y="309180"/>
                </a:moveTo>
                <a:lnTo>
                  <a:pt x="1283943" y="309180"/>
                </a:lnTo>
                <a:lnTo>
                  <a:pt x="1291743" y="307604"/>
                </a:lnTo>
                <a:lnTo>
                  <a:pt x="1298124" y="303310"/>
                </a:lnTo>
                <a:lnTo>
                  <a:pt x="1302433" y="296951"/>
                </a:lnTo>
                <a:lnTo>
                  <a:pt x="1304015" y="289178"/>
                </a:lnTo>
                <a:lnTo>
                  <a:pt x="1302433" y="281405"/>
                </a:lnTo>
                <a:lnTo>
                  <a:pt x="1298124" y="275045"/>
                </a:lnTo>
                <a:lnTo>
                  <a:pt x="1291743" y="270750"/>
                </a:lnTo>
                <a:lnTo>
                  <a:pt x="1283943" y="269174"/>
                </a:lnTo>
                <a:lnTo>
                  <a:pt x="1307070" y="269174"/>
                </a:lnTo>
                <a:lnTo>
                  <a:pt x="1312477" y="277138"/>
                </a:lnTo>
                <a:lnTo>
                  <a:pt x="1314924" y="289178"/>
                </a:lnTo>
                <a:lnTo>
                  <a:pt x="1312477" y="301218"/>
                </a:lnTo>
                <a:lnTo>
                  <a:pt x="1307070" y="309180"/>
                </a:lnTo>
                <a:close/>
              </a:path>
              <a:path w="2385695" h="565150">
                <a:moveTo>
                  <a:pt x="1967441" y="564586"/>
                </a:moveTo>
                <a:lnTo>
                  <a:pt x="1572818" y="564586"/>
                </a:lnTo>
                <a:lnTo>
                  <a:pt x="1415288" y="407603"/>
                </a:lnTo>
                <a:lnTo>
                  <a:pt x="1430707" y="407603"/>
                </a:lnTo>
                <a:lnTo>
                  <a:pt x="1577327" y="553714"/>
                </a:lnTo>
                <a:lnTo>
                  <a:pt x="1978350" y="553714"/>
                </a:lnTo>
                <a:lnTo>
                  <a:pt x="1967441" y="564586"/>
                </a:lnTo>
                <a:close/>
              </a:path>
              <a:path w="2385695" h="565150">
                <a:moveTo>
                  <a:pt x="1392330" y="475731"/>
                </a:moveTo>
                <a:lnTo>
                  <a:pt x="1357833" y="475731"/>
                </a:lnTo>
                <a:lnTo>
                  <a:pt x="1362779" y="472106"/>
                </a:lnTo>
                <a:lnTo>
                  <a:pt x="1368889" y="470077"/>
                </a:lnTo>
                <a:lnTo>
                  <a:pt x="1375434" y="470077"/>
                </a:lnTo>
                <a:lnTo>
                  <a:pt x="1387539" y="472517"/>
                </a:lnTo>
                <a:lnTo>
                  <a:pt x="1392330" y="475731"/>
                </a:lnTo>
                <a:close/>
              </a:path>
              <a:path w="2385695" h="565150">
                <a:moveTo>
                  <a:pt x="1398636" y="521100"/>
                </a:moveTo>
                <a:lnTo>
                  <a:pt x="1375434" y="521100"/>
                </a:lnTo>
                <a:lnTo>
                  <a:pt x="1383318" y="519521"/>
                </a:lnTo>
                <a:lnTo>
                  <a:pt x="1389743" y="515211"/>
                </a:lnTo>
                <a:lnTo>
                  <a:pt x="1394068" y="508808"/>
                </a:lnTo>
                <a:lnTo>
                  <a:pt x="1395652" y="500952"/>
                </a:lnTo>
                <a:lnTo>
                  <a:pt x="1394068" y="493178"/>
                </a:lnTo>
                <a:lnTo>
                  <a:pt x="1389743" y="486818"/>
                </a:lnTo>
                <a:lnTo>
                  <a:pt x="1383318" y="482524"/>
                </a:lnTo>
                <a:lnTo>
                  <a:pt x="1375434" y="480948"/>
                </a:lnTo>
                <a:lnTo>
                  <a:pt x="1398653" y="480948"/>
                </a:lnTo>
                <a:lnTo>
                  <a:pt x="1404111" y="488973"/>
                </a:lnTo>
                <a:lnTo>
                  <a:pt x="1406561" y="500952"/>
                </a:lnTo>
                <a:lnTo>
                  <a:pt x="1404111" y="513014"/>
                </a:lnTo>
                <a:lnTo>
                  <a:pt x="1398636" y="521100"/>
                </a:lnTo>
                <a:close/>
              </a:path>
              <a:path w="2385695" h="565150">
                <a:moveTo>
                  <a:pt x="1978350" y="553714"/>
                </a:moveTo>
                <a:lnTo>
                  <a:pt x="1962933" y="553714"/>
                </a:lnTo>
                <a:lnTo>
                  <a:pt x="2031152" y="485732"/>
                </a:lnTo>
                <a:lnTo>
                  <a:pt x="2046569" y="485732"/>
                </a:lnTo>
                <a:lnTo>
                  <a:pt x="1978350" y="5537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5" name="bg 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388891" y="494734"/>
            <a:ext cx="1078894" cy="515142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6588915" y="675709"/>
            <a:ext cx="679450" cy="115570"/>
          </a:xfrm>
          <a:custGeom>
            <a:avLst/>
            <a:gdLst/>
            <a:ahLst/>
            <a:cxnLst/>
            <a:rect l="l" t="t" r="r" b="b"/>
            <a:pathLst>
              <a:path w="679450" h="115570">
                <a:moveTo>
                  <a:pt x="607571" y="78709"/>
                </a:moveTo>
                <a:lnTo>
                  <a:pt x="592153" y="78709"/>
                </a:lnTo>
                <a:lnTo>
                  <a:pt x="631716" y="39282"/>
                </a:lnTo>
                <a:lnTo>
                  <a:pt x="629370" y="35429"/>
                </a:lnTo>
                <a:lnTo>
                  <a:pt x="629245" y="35223"/>
                </a:lnTo>
                <a:lnTo>
                  <a:pt x="627644" y="30585"/>
                </a:lnTo>
                <a:lnTo>
                  <a:pt x="627644" y="25511"/>
                </a:lnTo>
                <a:lnTo>
                  <a:pt x="629660" y="15593"/>
                </a:lnTo>
                <a:lnTo>
                  <a:pt x="635153" y="7483"/>
                </a:lnTo>
                <a:lnTo>
                  <a:pt x="643292" y="2008"/>
                </a:lnTo>
                <a:lnTo>
                  <a:pt x="653245" y="0"/>
                </a:lnTo>
                <a:lnTo>
                  <a:pt x="663197" y="2008"/>
                </a:lnTo>
                <a:lnTo>
                  <a:pt x="671336" y="7483"/>
                </a:lnTo>
                <a:lnTo>
                  <a:pt x="676829" y="15593"/>
                </a:lnTo>
                <a:lnTo>
                  <a:pt x="678845" y="25511"/>
                </a:lnTo>
                <a:lnTo>
                  <a:pt x="676871" y="35223"/>
                </a:lnTo>
                <a:lnTo>
                  <a:pt x="676829" y="35429"/>
                </a:lnTo>
                <a:lnTo>
                  <a:pt x="671336" y="43539"/>
                </a:lnTo>
                <a:lnTo>
                  <a:pt x="666244" y="46964"/>
                </a:lnTo>
                <a:lnTo>
                  <a:pt x="639426" y="46964"/>
                </a:lnTo>
                <a:lnTo>
                  <a:pt x="607571" y="78709"/>
                </a:lnTo>
                <a:close/>
              </a:path>
              <a:path w="679450" h="115570">
                <a:moveTo>
                  <a:pt x="653245" y="51022"/>
                </a:moveTo>
                <a:lnTo>
                  <a:pt x="648153" y="51022"/>
                </a:lnTo>
                <a:lnTo>
                  <a:pt x="643353" y="49574"/>
                </a:lnTo>
                <a:lnTo>
                  <a:pt x="639426" y="46964"/>
                </a:lnTo>
                <a:lnTo>
                  <a:pt x="666244" y="46964"/>
                </a:lnTo>
                <a:lnTo>
                  <a:pt x="663197" y="49013"/>
                </a:lnTo>
                <a:lnTo>
                  <a:pt x="653245" y="51022"/>
                </a:lnTo>
                <a:close/>
              </a:path>
              <a:path w="679450" h="115570">
                <a:moveTo>
                  <a:pt x="31128" y="115092"/>
                </a:moveTo>
                <a:lnTo>
                  <a:pt x="19023" y="112652"/>
                </a:lnTo>
                <a:lnTo>
                  <a:pt x="9127" y="106014"/>
                </a:lnTo>
                <a:lnTo>
                  <a:pt x="2450" y="96196"/>
                </a:lnTo>
                <a:lnTo>
                  <a:pt x="0" y="84217"/>
                </a:lnTo>
                <a:lnTo>
                  <a:pt x="2450" y="72154"/>
                </a:lnTo>
                <a:lnTo>
                  <a:pt x="9127" y="62293"/>
                </a:lnTo>
                <a:lnTo>
                  <a:pt x="19023" y="55639"/>
                </a:lnTo>
                <a:lnTo>
                  <a:pt x="31128" y="53197"/>
                </a:lnTo>
                <a:lnTo>
                  <a:pt x="41915" y="55145"/>
                </a:lnTo>
                <a:lnTo>
                  <a:pt x="51092" y="60517"/>
                </a:lnTo>
                <a:lnTo>
                  <a:pt x="54091" y="64069"/>
                </a:lnTo>
                <a:lnTo>
                  <a:pt x="31128" y="64069"/>
                </a:lnTo>
                <a:lnTo>
                  <a:pt x="23244" y="65647"/>
                </a:lnTo>
                <a:lnTo>
                  <a:pt x="16819" y="69957"/>
                </a:lnTo>
                <a:lnTo>
                  <a:pt x="12494" y="76360"/>
                </a:lnTo>
                <a:lnTo>
                  <a:pt x="10910" y="84217"/>
                </a:lnTo>
                <a:lnTo>
                  <a:pt x="12494" y="91990"/>
                </a:lnTo>
                <a:lnTo>
                  <a:pt x="16819" y="98349"/>
                </a:lnTo>
                <a:lnTo>
                  <a:pt x="23244" y="102644"/>
                </a:lnTo>
                <a:lnTo>
                  <a:pt x="31128" y="104220"/>
                </a:lnTo>
                <a:lnTo>
                  <a:pt x="54043" y="104220"/>
                </a:lnTo>
                <a:lnTo>
                  <a:pt x="51092" y="107717"/>
                </a:lnTo>
                <a:lnTo>
                  <a:pt x="41915" y="113123"/>
                </a:lnTo>
                <a:lnTo>
                  <a:pt x="31128" y="115092"/>
                </a:lnTo>
                <a:close/>
              </a:path>
              <a:path w="679450" h="115570">
                <a:moveTo>
                  <a:pt x="54043" y="104220"/>
                </a:moveTo>
                <a:lnTo>
                  <a:pt x="40292" y="104220"/>
                </a:lnTo>
                <a:lnTo>
                  <a:pt x="48146" y="97987"/>
                </a:lnTo>
                <a:lnTo>
                  <a:pt x="50328" y="89580"/>
                </a:lnTo>
                <a:lnTo>
                  <a:pt x="50910" y="87841"/>
                </a:lnTo>
                <a:lnTo>
                  <a:pt x="51200" y="86101"/>
                </a:lnTo>
                <a:lnTo>
                  <a:pt x="51200" y="82332"/>
                </a:lnTo>
                <a:lnTo>
                  <a:pt x="50910" y="80448"/>
                </a:lnTo>
                <a:lnTo>
                  <a:pt x="50328" y="78709"/>
                </a:lnTo>
                <a:lnTo>
                  <a:pt x="48001" y="70156"/>
                </a:lnTo>
                <a:lnTo>
                  <a:pt x="40292" y="64069"/>
                </a:lnTo>
                <a:lnTo>
                  <a:pt x="54091" y="64069"/>
                </a:lnTo>
                <a:lnTo>
                  <a:pt x="57924" y="68607"/>
                </a:lnTo>
                <a:lnTo>
                  <a:pt x="61673" y="78709"/>
                </a:lnTo>
                <a:lnTo>
                  <a:pt x="607571" y="78709"/>
                </a:lnTo>
                <a:lnTo>
                  <a:pt x="596662" y="89580"/>
                </a:lnTo>
                <a:lnTo>
                  <a:pt x="61673" y="89580"/>
                </a:lnTo>
                <a:lnTo>
                  <a:pt x="57924" y="99620"/>
                </a:lnTo>
                <a:lnTo>
                  <a:pt x="54043" y="1042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bg 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451873" y="14510"/>
            <a:ext cx="1470608" cy="766776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6651898" y="195485"/>
            <a:ext cx="1070610" cy="367030"/>
          </a:xfrm>
          <a:custGeom>
            <a:avLst/>
            <a:gdLst/>
            <a:ahLst/>
            <a:cxnLst/>
            <a:rect l="l" t="t" r="r" b="b"/>
            <a:pathLst>
              <a:path w="1070609" h="367030">
                <a:moveTo>
                  <a:pt x="316657" y="335852"/>
                </a:moveTo>
                <a:lnTo>
                  <a:pt x="301239" y="335852"/>
                </a:lnTo>
                <a:lnTo>
                  <a:pt x="491205" y="146546"/>
                </a:lnTo>
                <a:lnTo>
                  <a:pt x="736008" y="146546"/>
                </a:lnTo>
                <a:lnTo>
                  <a:pt x="857609" y="25366"/>
                </a:lnTo>
                <a:lnTo>
                  <a:pt x="1009029" y="25366"/>
                </a:lnTo>
                <a:lnTo>
                  <a:pt x="1012759" y="15288"/>
                </a:lnTo>
                <a:lnTo>
                  <a:pt x="1019557" y="7247"/>
                </a:lnTo>
                <a:lnTo>
                  <a:pt x="1028727" y="1925"/>
                </a:lnTo>
                <a:lnTo>
                  <a:pt x="1039576" y="0"/>
                </a:lnTo>
                <a:lnTo>
                  <a:pt x="1051596" y="2418"/>
                </a:lnTo>
                <a:lnTo>
                  <a:pt x="1061448" y="9023"/>
                </a:lnTo>
                <a:lnTo>
                  <a:pt x="1062703" y="10871"/>
                </a:lnTo>
                <a:lnTo>
                  <a:pt x="1030412" y="10871"/>
                </a:lnTo>
                <a:lnTo>
                  <a:pt x="1022702" y="16958"/>
                </a:lnTo>
                <a:lnTo>
                  <a:pt x="1020375" y="25366"/>
                </a:lnTo>
                <a:lnTo>
                  <a:pt x="1019794" y="27106"/>
                </a:lnTo>
                <a:lnTo>
                  <a:pt x="1019502" y="28990"/>
                </a:lnTo>
                <a:lnTo>
                  <a:pt x="1019502" y="32758"/>
                </a:lnTo>
                <a:lnTo>
                  <a:pt x="1019794" y="34497"/>
                </a:lnTo>
                <a:lnTo>
                  <a:pt x="1020375" y="36238"/>
                </a:lnTo>
                <a:lnTo>
                  <a:pt x="862119" y="36238"/>
                </a:lnTo>
                <a:lnTo>
                  <a:pt x="740517" y="157416"/>
                </a:lnTo>
                <a:lnTo>
                  <a:pt x="495714" y="157416"/>
                </a:lnTo>
                <a:lnTo>
                  <a:pt x="316657" y="335852"/>
                </a:lnTo>
                <a:close/>
              </a:path>
              <a:path w="1070609" h="367030">
                <a:moveTo>
                  <a:pt x="1062665" y="50878"/>
                </a:moveTo>
                <a:lnTo>
                  <a:pt x="1039576" y="50878"/>
                </a:lnTo>
                <a:lnTo>
                  <a:pt x="1047376" y="49301"/>
                </a:lnTo>
                <a:lnTo>
                  <a:pt x="1053758" y="45007"/>
                </a:lnTo>
                <a:lnTo>
                  <a:pt x="1058066" y="38647"/>
                </a:lnTo>
                <a:lnTo>
                  <a:pt x="1059648" y="30874"/>
                </a:lnTo>
                <a:lnTo>
                  <a:pt x="1058066" y="23101"/>
                </a:lnTo>
                <a:lnTo>
                  <a:pt x="1053758" y="16741"/>
                </a:lnTo>
                <a:lnTo>
                  <a:pt x="1047376" y="12447"/>
                </a:lnTo>
                <a:lnTo>
                  <a:pt x="1039576" y="10871"/>
                </a:lnTo>
                <a:lnTo>
                  <a:pt x="1062703" y="10871"/>
                </a:lnTo>
                <a:lnTo>
                  <a:pt x="1068110" y="18834"/>
                </a:lnTo>
                <a:lnTo>
                  <a:pt x="1070557" y="30874"/>
                </a:lnTo>
                <a:lnTo>
                  <a:pt x="1068110" y="42852"/>
                </a:lnTo>
                <a:lnTo>
                  <a:pt x="1062665" y="50878"/>
                </a:lnTo>
                <a:close/>
              </a:path>
              <a:path w="1070609" h="367030">
                <a:moveTo>
                  <a:pt x="1039576" y="61748"/>
                </a:moveTo>
                <a:lnTo>
                  <a:pt x="1028727" y="59780"/>
                </a:lnTo>
                <a:lnTo>
                  <a:pt x="1019557" y="54374"/>
                </a:lnTo>
                <a:lnTo>
                  <a:pt x="1012759" y="46278"/>
                </a:lnTo>
                <a:lnTo>
                  <a:pt x="1009029" y="36238"/>
                </a:lnTo>
                <a:lnTo>
                  <a:pt x="1020375" y="36238"/>
                </a:lnTo>
                <a:lnTo>
                  <a:pt x="1022556" y="44645"/>
                </a:lnTo>
                <a:lnTo>
                  <a:pt x="1030412" y="50878"/>
                </a:lnTo>
                <a:lnTo>
                  <a:pt x="1062665" y="50878"/>
                </a:lnTo>
                <a:lnTo>
                  <a:pt x="1061448" y="52670"/>
                </a:lnTo>
                <a:lnTo>
                  <a:pt x="1051596" y="59309"/>
                </a:lnTo>
                <a:lnTo>
                  <a:pt x="1039576" y="61748"/>
                </a:lnTo>
                <a:close/>
              </a:path>
              <a:path w="1070609" h="367030">
                <a:moveTo>
                  <a:pt x="455133" y="335852"/>
                </a:moveTo>
                <a:lnTo>
                  <a:pt x="439714" y="335852"/>
                </a:lnTo>
                <a:lnTo>
                  <a:pt x="542987" y="232937"/>
                </a:lnTo>
                <a:lnTo>
                  <a:pt x="742845" y="232937"/>
                </a:lnTo>
                <a:lnTo>
                  <a:pt x="746513" y="222706"/>
                </a:lnTo>
                <a:lnTo>
                  <a:pt x="753317" y="214473"/>
                </a:lnTo>
                <a:lnTo>
                  <a:pt x="762522" y="208985"/>
                </a:lnTo>
                <a:lnTo>
                  <a:pt x="773390" y="206990"/>
                </a:lnTo>
                <a:lnTo>
                  <a:pt x="785472" y="209432"/>
                </a:lnTo>
                <a:lnTo>
                  <a:pt x="795318" y="216086"/>
                </a:lnTo>
                <a:lnTo>
                  <a:pt x="796511" y="217862"/>
                </a:lnTo>
                <a:lnTo>
                  <a:pt x="764081" y="217862"/>
                </a:lnTo>
                <a:lnTo>
                  <a:pt x="756227" y="224240"/>
                </a:lnTo>
                <a:lnTo>
                  <a:pt x="754045" y="232937"/>
                </a:lnTo>
                <a:lnTo>
                  <a:pt x="753608" y="234530"/>
                </a:lnTo>
                <a:lnTo>
                  <a:pt x="753317" y="236269"/>
                </a:lnTo>
                <a:lnTo>
                  <a:pt x="753317" y="240039"/>
                </a:lnTo>
                <a:lnTo>
                  <a:pt x="753608" y="241923"/>
                </a:lnTo>
                <a:lnTo>
                  <a:pt x="754334" y="243807"/>
                </a:lnTo>
                <a:lnTo>
                  <a:pt x="547496" y="243807"/>
                </a:lnTo>
                <a:lnTo>
                  <a:pt x="455133" y="335852"/>
                </a:lnTo>
                <a:close/>
              </a:path>
              <a:path w="1070609" h="367030">
                <a:moveTo>
                  <a:pt x="796529" y="258013"/>
                </a:moveTo>
                <a:lnTo>
                  <a:pt x="773390" y="258013"/>
                </a:lnTo>
                <a:lnTo>
                  <a:pt x="781190" y="256437"/>
                </a:lnTo>
                <a:lnTo>
                  <a:pt x="785229" y="253719"/>
                </a:lnTo>
                <a:lnTo>
                  <a:pt x="787621" y="252070"/>
                </a:lnTo>
                <a:lnTo>
                  <a:pt x="791882" y="245782"/>
                </a:lnTo>
                <a:lnTo>
                  <a:pt x="793463" y="238009"/>
                </a:lnTo>
                <a:lnTo>
                  <a:pt x="791882" y="230152"/>
                </a:lnTo>
                <a:lnTo>
                  <a:pt x="787572" y="223750"/>
                </a:lnTo>
                <a:lnTo>
                  <a:pt x="781190" y="219440"/>
                </a:lnTo>
                <a:lnTo>
                  <a:pt x="773390" y="217862"/>
                </a:lnTo>
                <a:lnTo>
                  <a:pt x="796511" y="217862"/>
                </a:lnTo>
                <a:lnTo>
                  <a:pt x="801945" y="225947"/>
                </a:lnTo>
                <a:lnTo>
                  <a:pt x="804372" y="238009"/>
                </a:lnTo>
                <a:lnTo>
                  <a:pt x="801945" y="249989"/>
                </a:lnTo>
                <a:lnTo>
                  <a:pt x="796529" y="258013"/>
                </a:lnTo>
                <a:close/>
              </a:path>
              <a:path w="1070609" h="367030">
                <a:moveTo>
                  <a:pt x="773390" y="268885"/>
                </a:moveTo>
                <a:lnTo>
                  <a:pt x="762708" y="266964"/>
                </a:lnTo>
                <a:lnTo>
                  <a:pt x="753608" y="261673"/>
                </a:lnTo>
                <a:lnTo>
                  <a:pt x="746799" y="253719"/>
                </a:lnTo>
                <a:lnTo>
                  <a:pt x="742990" y="243807"/>
                </a:lnTo>
                <a:lnTo>
                  <a:pt x="754334" y="243807"/>
                </a:lnTo>
                <a:lnTo>
                  <a:pt x="756662" y="252070"/>
                </a:lnTo>
                <a:lnTo>
                  <a:pt x="764372" y="258013"/>
                </a:lnTo>
                <a:lnTo>
                  <a:pt x="796529" y="258013"/>
                </a:lnTo>
                <a:lnTo>
                  <a:pt x="795318" y="259807"/>
                </a:lnTo>
                <a:lnTo>
                  <a:pt x="785472" y="266445"/>
                </a:lnTo>
                <a:lnTo>
                  <a:pt x="773390" y="268885"/>
                </a:lnTo>
                <a:close/>
              </a:path>
              <a:path w="1070609" h="367030">
                <a:moveTo>
                  <a:pt x="25599" y="366726"/>
                </a:moveTo>
                <a:lnTo>
                  <a:pt x="15647" y="364717"/>
                </a:lnTo>
                <a:lnTo>
                  <a:pt x="7509" y="359243"/>
                </a:lnTo>
                <a:lnTo>
                  <a:pt x="2015" y="351133"/>
                </a:lnTo>
                <a:lnTo>
                  <a:pt x="0" y="341214"/>
                </a:lnTo>
                <a:lnTo>
                  <a:pt x="2015" y="331297"/>
                </a:lnTo>
                <a:lnTo>
                  <a:pt x="7509" y="323186"/>
                </a:lnTo>
                <a:lnTo>
                  <a:pt x="15647" y="317712"/>
                </a:lnTo>
                <a:lnTo>
                  <a:pt x="25599" y="315703"/>
                </a:lnTo>
                <a:lnTo>
                  <a:pt x="34377" y="317241"/>
                </a:lnTo>
                <a:lnTo>
                  <a:pt x="41818" y="321483"/>
                </a:lnTo>
                <a:lnTo>
                  <a:pt x="47405" y="327872"/>
                </a:lnTo>
                <a:lnTo>
                  <a:pt x="50618" y="335852"/>
                </a:lnTo>
                <a:lnTo>
                  <a:pt x="455133" y="335852"/>
                </a:lnTo>
                <a:lnTo>
                  <a:pt x="444223" y="346723"/>
                </a:lnTo>
                <a:lnTo>
                  <a:pt x="50618" y="346723"/>
                </a:lnTo>
                <a:lnTo>
                  <a:pt x="47322" y="354598"/>
                </a:lnTo>
                <a:lnTo>
                  <a:pt x="41709" y="360910"/>
                </a:lnTo>
                <a:lnTo>
                  <a:pt x="34295" y="365129"/>
                </a:lnTo>
                <a:lnTo>
                  <a:pt x="25599" y="3667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9" name="bg object 4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06865" y="330215"/>
            <a:ext cx="1709448" cy="891145"/>
          </a:xfrm>
          <a:prstGeom prst="rect">
            <a:avLst/>
          </a:prstGeom>
        </p:spPr>
      </p:pic>
      <p:sp>
        <p:nvSpPr>
          <p:cNvPr id="50" name="bg object 50"/>
          <p:cNvSpPr/>
          <p:nvPr/>
        </p:nvSpPr>
        <p:spPr>
          <a:xfrm>
            <a:off x="7506890" y="511190"/>
            <a:ext cx="1310005" cy="491490"/>
          </a:xfrm>
          <a:custGeom>
            <a:avLst/>
            <a:gdLst/>
            <a:ahLst/>
            <a:cxnLst/>
            <a:rect l="l" t="t" r="r" b="b"/>
            <a:pathLst>
              <a:path w="1310004" h="491490">
                <a:moveTo>
                  <a:pt x="1283797" y="491095"/>
                </a:moveTo>
                <a:lnTo>
                  <a:pt x="1275020" y="489580"/>
                </a:lnTo>
                <a:lnTo>
                  <a:pt x="1267579" y="485387"/>
                </a:lnTo>
                <a:lnTo>
                  <a:pt x="1261992" y="479048"/>
                </a:lnTo>
                <a:lnTo>
                  <a:pt x="1258778" y="471092"/>
                </a:lnTo>
                <a:lnTo>
                  <a:pt x="894411" y="471092"/>
                </a:lnTo>
                <a:lnTo>
                  <a:pt x="452369" y="30585"/>
                </a:lnTo>
                <a:lnTo>
                  <a:pt x="50619" y="30585"/>
                </a:lnTo>
                <a:lnTo>
                  <a:pt x="47467" y="38670"/>
                </a:lnTo>
                <a:lnTo>
                  <a:pt x="41873" y="45152"/>
                </a:lnTo>
                <a:lnTo>
                  <a:pt x="34399" y="49460"/>
                </a:lnTo>
                <a:lnTo>
                  <a:pt x="25601" y="51022"/>
                </a:lnTo>
                <a:lnTo>
                  <a:pt x="15648" y="49013"/>
                </a:lnTo>
                <a:lnTo>
                  <a:pt x="7509" y="43539"/>
                </a:lnTo>
                <a:lnTo>
                  <a:pt x="2015" y="35429"/>
                </a:lnTo>
                <a:lnTo>
                  <a:pt x="0" y="25511"/>
                </a:lnTo>
                <a:lnTo>
                  <a:pt x="2015" y="15593"/>
                </a:lnTo>
                <a:lnTo>
                  <a:pt x="7509" y="7483"/>
                </a:lnTo>
                <a:lnTo>
                  <a:pt x="15648" y="2008"/>
                </a:lnTo>
                <a:lnTo>
                  <a:pt x="25601" y="0"/>
                </a:lnTo>
                <a:lnTo>
                  <a:pt x="34212" y="1487"/>
                </a:lnTo>
                <a:lnTo>
                  <a:pt x="41582" y="5598"/>
                </a:lnTo>
                <a:lnTo>
                  <a:pt x="47180" y="11802"/>
                </a:lnTo>
                <a:lnTo>
                  <a:pt x="50473" y="19568"/>
                </a:lnTo>
                <a:lnTo>
                  <a:pt x="456878" y="19568"/>
                </a:lnTo>
                <a:lnTo>
                  <a:pt x="898919" y="460074"/>
                </a:lnTo>
                <a:lnTo>
                  <a:pt x="1258778" y="460074"/>
                </a:lnTo>
                <a:lnTo>
                  <a:pt x="1262074" y="452119"/>
                </a:lnTo>
                <a:lnTo>
                  <a:pt x="1267688" y="445779"/>
                </a:lnTo>
                <a:lnTo>
                  <a:pt x="1275102" y="441587"/>
                </a:lnTo>
                <a:lnTo>
                  <a:pt x="1283797" y="440072"/>
                </a:lnTo>
                <a:lnTo>
                  <a:pt x="1293749" y="442081"/>
                </a:lnTo>
                <a:lnTo>
                  <a:pt x="1301888" y="447555"/>
                </a:lnTo>
                <a:lnTo>
                  <a:pt x="1307381" y="455666"/>
                </a:lnTo>
                <a:lnTo>
                  <a:pt x="1309397" y="465583"/>
                </a:lnTo>
                <a:lnTo>
                  <a:pt x="1307381" y="475501"/>
                </a:lnTo>
                <a:lnTo>
                  <a:pt x="1301888" y="483612"/>
                </a:lnTo>
                <a:lnTo>
                  <a:pt x="1293749" y="489086"/>
                </a:lnTo>
                <a:lnTo>
                  <a:pt x="1283797" y="49109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9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5238" y="2310130"/>
            <a:ext cx="42494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8300" y="4535064"/>
            <a:ext cx="3298824" cy="2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915673" y="4535064"/>
            <a:ext cx="859667" cy="283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999999"/>
                </a:solidFill>
                <a:latin typeface="Verdana"/>
                <a:cs typeface="Verdan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48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3500" dirty="0">
                <a:latin typeface="Verdana"/>
                <a:cs typeface="Verdana"/>
              </a:rPr>
              <a:t>Phân</a:t>
            </a:r>
            <a:r>
              <a:rPr sz="3500" spc="-25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tích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rủi</a:t>
            </a:r>
            <a:r>
              <a:rPr sz="3500" spc="-15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ro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quy</a:t>
            </a:r>
            <a:r>
              <a:rPr sz="3500" spc="-15" dirty="0">
                <a:latin typeface="Verdana"/>
                <a:cs typeface="Verdana"/>
              </a:rPr>
              <a:t> </a:t>
            </a:r>
            <a:r>
              <a:rPr sz="3500" spc="-10" dirty="0">
                <a:latin typeface="Verdana"/>
                <a:cs typeface="Verdana"/>
              </a:rPr>
              <a:t>trình </a:t>
            </a:r>
            <a:r>
              <a:rPr sz="3500" dirty="0">
                <a:latin typeface="Verdana"/>
                <a:cs typeface="Verdana"/>
              </a:rPr>
              <a:t>mở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mới</a:t>
            </a:r>
            <a:r>
              <a:rPr sz="3500" spc="-15" dirty="0">
                <a:latin typeface="Verdana"/>
                <a:cs typeface="Verdana"/>
              </a:rPr>
              <a:t> </a:t>
            </a:r>
            <a:r>
              <a:rPr sz="3500" dirty="0">
                <a:latin typeface="Verdana"/>
                <a:cs typeface="Verdana"/>
              </a:rPr>
              <a:t>cửa</a:t>
            </a:r>
            <a:r>
              <a:rPr sz="3500" spc="-10" dirty="0">
                <a:latin typeface="Verdana"/>
                <a:cs typeface="Verdana"/>
              </a:rPr>
              <a:t> </a:t>
            </a:r>
            <a:r>
              <a:rPr sz="3500" spc="-20" dirty="0">
                <a:latin typeface="Verdana"/>
                <a:cs typeface="Verdana"/>
              </a:rPr>
              <a:t>hàng</a:t>
            </a:r>
            <a:endParaRPr sz="35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8800" y="2550922"/>
            <a:ext cx="697928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Chuyên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đề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rà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soát</a:t>
            </a:r>
            <a:r>
              <a:rPr sz="16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toàn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diện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công</a:t>
            </a:r>
            <a:r>
              <a:rPr sz="16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tác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xây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dựng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&amp;</a:t>
            </a:r>
            <a:r>
              <a:rPr sz="16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mở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mới</a:t>
            </a:r>
            <a:r>
              <a:rPr sz="1600" i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dirty="0">
                <a:solidFill>
                  <a:srgbClr val="FFFFFF"/>
                </a:solidFill>
                <a:latin typeface="Verdana"/>
                <a:cs typeface="Verdana"/>
              </a:rPr>
              <a:t>mặt</a:t>
            </a:r>
            <a:r>
              <a:rPr sz="1600" i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600" i="1" spc="-20" dirty="0">
                <a:solidFill>
                  <a:srgbClr val="FFFFFF"/>
                </a:solidFill>
                <a:latin typeface="Verdana"/>
                <a:cs typeface="Verdana"/>
              </a:rPr>
              <a:t>bằng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1500" y="428625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00" y="4458491"/>
            <a:ext cx="3793490" cy="195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KHỐI</a:t>
            </a:r>
            <a:r>
              <a:rPr sz="1100" b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AN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NINH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CƠ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SỞ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VÀ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KIỂM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SOÁT</a:t>
            </a:r>
            <a:r>
              <a:rPr sz="1100" b="1" spc="-3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Verdana"/>
                <a:cs typeface="Verdana"/>
              </a:rPr>
              <a:t>TUÂN</a:t>
            </a:r>
            <a:r>
              <a:rPr sz="1100" b="1" spc="-3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Verdana"/>
                <a:cs typeface="Verdana"/>
              </a:rPr>
              <a:t>THỦ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73059" y="4458491"/>
            <a:ext cx="812165" cy="195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Verdana"/>
                <a:cs typeface="Verdana"/>
              </a:rPr>
              <a:t>T05/2026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348878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 anchor="ctr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1400" dirty="0">
                <a:latin typeface="Verdana"/>
                <a:cs typeface="Verdana"/>
              </a:rPr>
              <a:t>GIAI ĐOẠN 1: TÌM KIẾM &amp; THẨM ĐỊNH MẶT BẰNG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420974" y="890916"/>
            <a:ext cx="429831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lang="en-US"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487" y="1423987"/>
            <a:ext cx="2486025" cy="2486025"/>
            <a:chOff x="471487" y="1423987"/>
            <a:chExt cx="2486025" cy="2486025"/>
          </a:xfrm>
        </p:grpSpPr>
        <p:sp>
          <p:nvSpPr>
            <p:cNvPr id="6" name="object 6"/>
            <p:cNvSpPr/>
            <p:nvPr/>
          </p:nvSpPr>
          <p:spPr>
            <a:xfrm>
              <a:off x="4762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62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3050" y="1910715"/>
              <a:ext cx="333375" cy="3333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69496" y="2360422"/>
            <a:ext cx="1489710" cy="5168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9565" marR="5080" indent="-317500">
              <a:lnSpc>
                <a:spcPct val="101600"/>
              </a:lnSpc>
              <a:spcBef>
                <a:spcPts val="70"/>
              </a:spcBef>
            </a:pP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Tìm</a:t>
            </a:r>
            <a:r>
              <a:rPr sz="16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kiếm</a:t>
            </a:r>
            <a:r>
              <a:rPr sz="16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600" b="1" spc="-25" dirty="0">
                <a:solidFill>
                  <a:srgbClr val="333333"/>
                </a:solidFill>
                <a:latin typeface="Verdana"/>
                <a:cs typeface="Verdana"/>
              </a:rPr>
              <a:t>MB </a:t>
            </a:r>
            <a:r>
              <a:rPr sz="1600" b="1" spc="-10" dirty="0">
                <a:solidFill>
                  <a:srgbClr val="333333"/>
                </a:solidFill>
                <a:latin typeface="Verdana"/>
                <a:cs typeface="Verdana"/>
              </a:rPr>
              <a:t>(PTML)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52750" y="1423987"/>
            <a:ext cx="2862580" cy="2486025"/>
            <a:chOff x="2952750" y="1423987"/>
            <a:chExt cx="2862580" cy="24860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0" y="2605087"/>
              <a:ext cx="390599" cy="1238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3337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337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81500" y="1910715"/>
              <a:ext cx="381000" cy="3429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957189" y="2360422"/>
            <a:ext cx="1229360" cy="538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Thẩm</a:t>
            </a:r>
            <a:r>
              <a:rPr sz="1600" b="1" spc="-20" dirty="0">
                <a:solidFill>
                  <a:srgbClr val="333333"/>
                </a:solidFill>
                <a:latin typeface="Verdana"/>
                <a:cs typeface="Verdana"/>
              </a:rPr>
              <a:t> định</a:t>
            </a:r>
            <a:endParaRPr sz="16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8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(VH,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TC,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QH)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810250" y="1423987"/>
            <a:ext cx="2862580" cy="2486025"/>
            <a:chOff x="5810250" y="1423987"/>
            <a:chExt cx="2862580" cy="248602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10250" y="2605087"/>
              <a:ext cx="390599" cy="1238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1912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2333630" y="2476499"/>
                  </a:move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191249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6775" y="1869440"/>
              <a:ext cx="409575" cy="4254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435418" y="2360422"/>
            <a:ext cx="198755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HĐTĐ</a:t>
            </a:r>
            <a:r>
              <a:rPr sz="16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sz="1600" b="1" spc="-20" dirty="0">
                <a:solidFill>
                  <a:srgbClr val="333333"/>
                </a:solidFill>
                <a:latin typeface="Verdana"/>
                <a:cs typeface="Verdana"/>
              </a:rPr>
              <a:t> định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6" name="object 2">
            <a:extLst>
              <a:ext uri="{FF2B5EF4-FFF2-40B4-BE49-F238E27FC236}">
                <a16:creationId xmlns:a16="http://schemas.microsoft.com/office/drawing/2014/main" id="{BFCCEA9E-EA6C-7F2F-CB58-E6109072478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1: TÌM KIẾM &amp; THẨM ĐỊNH MẶT BẰNG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80999" y="1333500"/>
            <a:ext cx="2095500" cy="1333500"/>
            <a:chOff x="380999" y="1333500"/>
            <a:chExt cx="2095500" cy="1333500"/>
          </a:xfrm>
        </p:grpSpPr>
        <p:sp>
          <p:nvSpPr>
            <p:cNvPr id="6" name="object 6"/>
            <p:cNvSpPr/>
            <p:nvPr/>
          </p:nvSpPr>
          <p:spPr>
            <a:xfrm>
              <a:off x="380999" y="1333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00261" y="1333499"/>
                  </a:move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0999" y="1333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3181337" y="890916"/>
            <a:ext cx="27781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GIAI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ĐOẠN:</a:t>
            </a:r>
            <a:r>
              <a:rPr sz="12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T1/2026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-</a:t>
            </a:r>
            <a:r>
              <a:rPr sz="12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spc="-10" dirty="0">
                <a:solidFill>
                  <a:srgbClr val="C00000"/>
                </a:solidFill>
                <a:latin typeface="Verdana"/>
                <a:cs typeface="Verdana"/>
              </a:rPr>
              <a:t>T4/2026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489" y="1555940"/>
            <a:ext cx="999490" cy="84010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260"/>
              </a:spcBef>
            </a:pP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Tổng</a:t>
            </a:r>
            <a:r>
              <a:rPr sz="12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hồ</a:t>
            </a:r>
            <a:r>
              <a:rPr sz="12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Verdana"/>
                <a:cs typeface="Verdana"/>
              </a:rPr>
              <a:t>sơ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3600" b="1" spc="-25" dirty="0">
                <a:solidFill>
                  <a:srgbClr val="C00000"/>
                </a:solidFill>
                <a:latin typeface="Verdana"/>
                <a:cs typeface="Verdana"/>
              </a:rPr>
              <a:t>273</a:t>
            </a:r>
            <a:endParaRPr sz="36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6237" y="2852737"/>
            <a:ext cx="2105025" cy="1343025"/>
            <a:chOff x="376237" y="2852737"/>
            <a:chExt cx="2105025" cy="1343025"/>
          </a:xfrm>
        </p:grpSpPr>
        <p:sp>
          <p:nvSpPr>
            <p:cNvPr id="11" name="object 11"/>
            <p:cNvSpPr/>
            <p:nvPr/>
          </p:nvSpPr>
          <p:spPr>
            <a:xfrm>
              <a:off x="381000" y="2857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2000261" y="1333499"/>
                  </a:move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1000" y="2857500"/>
              <a:ext cx="2095500" cy="1333500"/>
            </a:xfrm>
            <a:custGeom>
              <a:avLst/>
              <a:gdLst/>
              <a:ahLst/>
              <a:cxnLst/>
              <a:rect l="l" t="t" r="r" b="b"/>
              <a:pathLst>
                <a:path w="2095500" h="1333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000261" y="0"/>
                  </a:lnTo>
                  <a:lnTo>
                    <a:pt x="2053099" y="16001"/>
                  </a:lnTo>
                  <a:lnTo>
                    <a:pt x="2088250" y="58792"/>
                  </a:lnTo>
                  <a:lnTo>
                    <a:pt x="2095499" y="95238"/>
                  </a:lnTo>
                  <a:lnTo>
                    <a:pt x="2095499" y="1238261"/>
                  </a:lnTo>
                  <a:lnTo>
                    <a:pt x="2088015" y="1275332"/>
                  </a:lnTo>
                  <a:lnTo>
                    <a:pt x="2067605" y="1305605"/>
                  </a:lnTo>
                  <a:lnTo>
                    <a:pt x="2037332" y="1326015"/>
                  </a:lnTo>
                  <a:lnTo>
                    <a:pt x="2000261" y="1333499"/>
                  </a:lnTo>
                  <a:lnTo>
                    <a:pt x="95238" y="1333499"/>
                  </a:lnTo>
                  <a:lnTo>
                    <a:pt x="58167" y="1326015"/>
                  </a:lnTo>
                  <a:lnTo>
                    <a:pt x="27894" y="1305605"/>
                  </a:lnTo>
                  <a:lnTo>
                    <a:pt x="7484" y="1275332"/>
                  </a:lnTo>
                  <a:lnTo>
                    <a:pt x="0" y="1238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00236" y="3024441"/>
            <a:ext cx="1256030" cy="9886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Tỷ</a:t>
            </a:r>
            <a:r>
              <a:rPr sz="12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lệ</a:t>
            </a:r>
            <a:r>
              <a:rPr sz="12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666666"/>
                </a:solidFill>
                <a:latin typeface="Verdana"/>
                <a:cs typeface="Verdana"/>
              </a:rPr>
              <a:t>không</a:t>
            </a:r>
            <a:r>
              <a:rPr sz="12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200" spc="-25" dirty="0">
                <a:solidFill>
                  <a:srgbClr val="666666"/>
                </a:solidFill>
                <a:latin typeface="Verdana"/>
                <a:cs typeface="Verdana"/>
              </a:rPr>
              <a:t>đạt</a:t>
            </a:r>
            <a:endParaRPr sz="12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3600" b="1" spc="-25" dirty="0">
                <a:solidFill>
                  <a:srgbClr val="C00000"/>
                </a:solidFill>
                <a:latin typeface="Verdana"/>
                <a:cs typeface="Verdana"/>
              </a:rPr>
              <a:t>45%</a:t>
            </a:r>
            <a:endParaRPr sz="3600">
              <a:latin typeface="Verdana"/>
              <a:cs typeface="Verdana"/>
            </a:endParaRPr>
          </a:p>
          <a:p>
            <a:pPr marL="635" algn="ctr">
              <a:lnSpc>
                <a:spcPct val="100000"/>
              </a:lnSpc>
              <a:spcBef>
                <a:spcPts val="430"/>
              </a:spcBef>
            </a:pPr>
            <a:r>
              <a:rPr sz="1000" dirty="0">
                <a:solidFill>
                  <a:srgbClr val="666666"/>
                </a:solidFill>
                <a:latin typeface="Verdana"/>
                <a:cs typeface="Verdana"/>
              </a:rPr>
              <a:t>(123</a:t>
            </a:r>
            <a:r>
              <a:rPr sz="10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666666"/>
                </a:solidFill>
                <a:latin typeface="Verdana"/>
                <a:cs typeface="Verdana"/>
              </a:rPr>
              <a:t>hồ</a:t>
            </a:r>
            <a:r>
              <a:rPr sz="10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666666"/>
                </a:solidFill>
                <a:latin typeface="Verdana"/>
                <a:cs typeface="Verdana"/>
              </a:rPr>
              <a:t>sơ)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662237" y="1328737"/>
            <a:ext cx="6105525" cy="2867025"/>
            <a:chOff x="2662237" y="1328737"/>
            <a:chExt cx="6105525" cy="2867025"/>
          </a:xfrm>
        </p:grpSpPr>
        <p:sp>
          <p:nvSpPr>
            <p:cNvPr id="15" name="object 15"/>
            <p:cNvSpPr/>
            <p:nvPr/>
          </p:nvSpPr>
          <p:spPr>
            <a:xfrm>
              <a:off x="2667000" y="1333500"/>
              <a:ext cx="6096000" cy="2857500"/>
            </a:xfrm>
            <a:custGeom>
              <a:avLst/>
              <a:gdLst/>
              <a:ahLst/>
              <a:cxnLst/>
              <a:rect l="l" t="t" r="r" b="b"/>
              <a:pathLst>
                <a:path w="6096000" h="2857500">
                  <a:moveTo>
                    <a:pt x="6000759" y="2857499"/>
                  </a:moveTo>
                  <a:lnTo>
                    <a:pt x="95240" y="2857499"/>
                  </a:lnTo>
                  <a:lnTo>
                    <a:pt x="58168" y="2850015"/>
                  </a:lnTo>
                  <a:lnTo>
                    <a:pt x="27895" y="2829604"/>
                  </a:lnTo>
                  <a:lnTo>
                    <a:pt x="7484" y="2799331"/>
                  </a:lnTo>
                  <a:lnTo>
                    <a:pt x="0" y="2762259"/>
                  </a:lnTo>
                  <a:lnTo>
                    <a:pt x="0" y="95240"/>
                  </a:ln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6000759" y="0"/>
                  </a:lnTo>
                  <a:lnTo>
                    <a:pt x="6053599" y="16001"/>
                  </a:lnTo>
                  <a:lnTo>
                    <a:pt x="6088750" y="58793"/>
                  </a:lnTo>
                  <a:lnTo>
                    <a:pt x="6095999" y="95240"/>
                  </a:lnTo>
                  <a:lnTo>
                    <a:pt x="6095999" y="2762259"/>
                  </a:lnTo>
                  <a:lnTo>
                    <a:pt x="6088515" y="2799331"/>
                  </a:lnTo>
                  <a:lnTo>
                    <a:pt x="6068104" y="2829604"/>
                  </a:lnTo>
                  <a:lnTo>
                    <a:pt x="6037831" y="2850015"/>
                  </a:lnTo>
                  <a:lnTo>
                    <a:pt x="6000759" y="2857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67000" y="1333500"/>
              <a:ext cx="6096000" cy="2857500"/>
            </a:xfrm>
            <a:custGeom>
              <a:avLst/>
              <a:gdLst/>
              <a:ahLst/>
              <a:cxnLst/>
              <a:rect l="l" t="t" r="r" b="b"/>
              <a:pathLst>
                <a:path w="6096000" h="2857500">
                  <a:moveTo>
                    <a:pt x="0" y="95240"/>
                  </a:moveTo>
                  <a:lnTo>
                    <a:pt x="7484" y="58168"/>
                  </a:lnTo>
                  <a:lnTo>
                    <a:pt x="27895" y="27895"/>
                  </a:lnTo>
                  <a:lnTo>
                    <a:pt x="58168" y="7484"/>
                  </a:lnTo>
                  <a:lnTo>
                    <a:pt x="95240" y="0"/>
                  </a:lnTo>
                  <a:lnTo>
                    <a:pt x="6000759" y="0"/>
                  </a:lnTo>
                  <a:lnTo>
                    <a:pt x="6053599" y="16001"/>
                  </a:lnTo>
                  <a:lnTo>
                    <a:pt x="6088750" y="58793"/>
                  </a:lnTo>
                  <a:lnTo>
                    <a:pt x="6095999" y="95240"/>
                  </a:lnTo>
                  <a:lnTo>
                    <a:pt x="6095999" y="2762259"/>
                  </a:lnTo>
                  <a:lnTo>
                    <a:pt x="6088515" y="2799331"/>
                  </a:lnTo>
                  <a:lnTo>
                    <a:pt x="6068104" y="2829604"/>
                  </a:lnTo>
                  <a:lnTo>
                    <a:pt x="6037831" y="2850015"/>
                  </a:lnTo>
                  <a:lnTo>
                    <a:pt x="6000759" y="2857499"/>
                  </a:lnTo>
                  <a:lnTo>
                    <a:pt x="95240" y="2857499"/>
                  </a:lnTo>
                  <a:lnTo>
                    <a:pt x="58168" y="2850015"/>
                  </a:lnTo>
                  <a:lnTo>
                    <a:pt x="27895" y="2829604"/>
                  </a:lnTo>
                  <a:lnTo>
                    <a:pt x="7484" y="2799331"/>
                  </a:lnTo>
                  <a:lnTo>
                    <a:pt x="0" y="2762259"/>
                  </a:lnTo>
                  <a:lnTo>
                    <a:pt x="0" y="9524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565347" y="1500008"/>
            <a:ext cx="42976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Chi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tiết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các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nguyên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nhân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thẩm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định</a:t>
            </a:r>
            <a:r>
              <a:rPr sz="13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không</a:t>
            </a:r>
            <a:r>
              <a:rPr sz="13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đạt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81000" y="1905000"/>
            <a:ext cx="8382000" cy="2534285"/>
            <a:chOff x="381000" y="1905000"/>
            <a:chExt cx="8382000" cy="253428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2750" y="1905000"/>
              <a:ext cx="2000099" cy="20000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8750" y="2143125"/>
              <a:ext cx="3238499" cy="13334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1000" y="4429125"/>
              <a:ext cx="8382000" cy="10160"/>
            </a:xfrm>
            <a:custGeom>
              <a:avLst/>
              <a:gdLst/>
              <a:ahLst/>
              <a:cxnLst/>
              <a:rect l="l" t="t" r="r" b="b"/>
              <a:pathLst>
                <a:path w="8382000" h="10160">
                  <a:moveTo>
                    <a:pt x="8381999" y="9599"/>
                  </a:moveTo>
                  <a:lnTo>
                    <a:pt x="0" y="9599"/>
                  </a:lnTo>
                  <a:lnTo>
                    <a:pt x="0" y="0"/>
                  </a:lnTo>
                  <a:lnTo>
                    <a:pt x="8381999" y="0"/>
                  </a:lnTo>
                  <a:lnTo>
                    <a:pt x="8381999" y="9599"/>
                  </a:lnTo>
                  <a:close/>
                </a:path>
              </a:pathLst>
            </a:custGeom>
            <a:solidFill>
              <a:srgbClr val="E0E0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/>
              <a:t>KHỐI</a:t>
            </a:r>
            <a:r>
              <a:rPr sz="850" spc="-25" dirty="0"/>
              <a:t> </a:t>
            </a:r>
            <a:r>
              <a:rPr sz="850" dirty="0"/>
              <a:t>AN</a:t>
            </a:r>
            <a:r>
              <a:rPr sz="850" spc="-25" dirty="0"/>
              <a:t> </a:t>
            </a:r>
            <a:r>
              <a:rPr sz="850" dirty="0"/>
              <a:t>NINH</a:t>
            </a:r>
            <a:r>
              <a:rPr sz="850" spc="-25" dirty="0"/>
              <a:t> </a:t>
            </a:r>
            <a:r>
              <a:rPr sz="850" dirty="0"/>
              <a:t>CƠ</a:t>
            </a:r>
            <a:r>
              <a:rPr sz="850" spc="-25" dirty="0"/>
              <a:t> </a:t>
            </a:r>
            <a:r>
              <a:rPr sz="850" dirty="0"/>
              <a:t>SỞ</a:t>
            </a:r>
            <a:r>
              <a:rPr sz="850" spc="-25" dirty="0"/>
              <a:t> </a:t>
            </a:r>
            <a:r>
              <a:rPr sz="850" dirty="0"/>
              <a:t>VÀ</a:t>
            </a:r>
            <a:r>
              <a:rPr sz="850" spc="-25" dirty="0"/>
              <a:t> </a:t>
            </a:r>
            <a:r>
              <a:rPr sz="850" dirty="0"/>
              <a:t>KIỂM</a:t>
            </a:r>
            <a:r>
              <a:rPr sz="850" spc="-25" dirty="0"/>
              <a:t> </a:t>
            </a:r>
            <a:r>
              <a:rPr sz="850" dirty="0"/>
              <a:t>SOÁT</a:t>
            </a:r>
            <a:r>
              <a:rPr sz="850" spc="-25" dirty="0"/>
              <a:t> </a:t>
            </a:r>
            <a:r>
              <a:rPr sz="850" dirty="0"/>
              <a:t>TUÂN</a:t>
            </a:r>
            <a:r>
              <a:rPr sz="850" spc="-20" dirty="0"/>
              <a:t> </a:t>
            </a:r>
            <a:r>
              <a:rPr sz="850" spc="-25" dirty="0"/>
              <a:t>THỦ</a:t>
            </a:r>
            <a:endParaRPr sz="850"/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8760">
              <a:lnSpc>
                <a:spcPct val="100000"/>
              </a:lnSpc>
              <a:spcBef>
                <a:spcPts val="105"/>
              </a:spcBef>
            </a:pPr>
            <a:r>
              <a:rPr sz="850" spc="-10" dirty="0"/>
              <a:t>T05/2026</a:t>
            </a:r>
            <a:endParaRPr sz="850"/>
          </a:p>
        </p:txBody>
      </p:sp>
      <p:pic>
        <p:nvPicPr>
          <p:cNvPr id="24" name="object 2">
            <a:extLst>
              <a:ext uri="{FF2B5EF4-FFF2-40B4-BE49-F238E27FC236}">
                <a16:creationId xmlns:a16="http://schemas.microsoft.com/office/drawing/2014/main" id="{D038F8B5-49E5-1C8F-197E-0FA3CAE2470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187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en-US" sz="1400" dirty="0">
                <a:latin typeface="Verdana"/>
                <a:cs typeface="Verdana"/>
              </a:rPr>
              <a:t>GIAI </a:t>
            </a:r>
            <a:r>
              <a:rPr lang="en-US" sz="1400" dirty="0" err="1">
                <a:latin typeface="Verdana"/>
                <a:cs typeface="Verdana"/>
              </a:rPr>
              <a:t>ĐOẠN</a:t>
            </a:r>
            <a:r>
              <a:rPr lang="en-US" sz="1400" dirty="0">
                <a:latin typeface="Verdana"/>
                <a:cs typeface="Verdana"/>
              </a:rPr>
              <a:t> 1: </a:t>
            </a:r>
            <a:r>
              <a:rPr lang="en-US" sz="1400" dirty="0" err="1">
                <a:latin typeface="Verdana"/>
                <a:cs typeface="Verdana"/>
              </a:rPr>
              <a:t>TÌM</a:t>
            </a:r>
            <a:r>
              <a:rPr lang="en-US" sz="1400" dirty="0">
                <a:latin typeface="Verdana"/>
                <a:cs typeface="Verdana"/>
              </a:rPr>
              <a:t> </a:t>
            </a:r>
            <a:r>
              <a:rPr lang="en-US" sz="1400" dirty="0" err="1">
                <a:latin typeface="Verdana"/>
                <a:cs typeface="Verdana"/>
              </a:rPr>
              <a:t>KIẾM</a:t>
            </a:r>
            <a:r>
              <a:rPr lang="en-US" sz="1400" dirty="0">
                <a:latin typeface="Verdana"/>
                <a:cs typeface="Verdana"/>
              </a:rPr>
              <a:t> &amp; </a:t>
            </a:r>
            <a:r>
              <a:rPr lang="en-US" sz="1400" dirty="0" err="1">
                <a:latin typeface="Verdana"/>
                <a:cs typeface="Verdana"/>
              </a:rPr>
              <a:t>THẨM</a:t>
            </a:r>
            <a:r>
              <a:rPr lang="en-US" sz="1400" dirty="0">
                <a:latin typeface="Verdana"/>
                <a:cs typeface="Verdana"/>
              </a:rPr>
              <a:t> ĐỊNH </a:t>
            </a:r>
            <a:r>
              <a:rPr lang="en-US" sz="1400" dirty="0" err="1">
                <a:latin typeface="Verdana"/>
                <a:cs typeface="Verdana"/>
              </a:rPr>
              <a:t>MẶT</a:t>
            </a:r>
            <a:r>
              <a:rPr lang="en-US" sz="1400" dirty="0">
                <a:latin typeface="Verdana"/>
                <a:cs typeface="Verdana"/>
              </a:rPr>
              <a:t> BẰNG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42542" y="890916"/>
            <a:ext cx="44551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NHẬN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DIỆN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71487" y="1328737"/>
            <a:ext cx="2676525" cy="2867025"/>
            <a:chOff x="471487" y="1328737"/>
            <a:chExt cx="2676525" cy="2867025"/>
          </a:xfrm>
        </p:grpSpPr>
        <p:sp>
          <p:nvSpPr>
            <p:cNvPr id="6" name="object 6"/>
            <p:cNvSpPr/>
            <p:nvPr/>
          </p:nvSpPr>
          <p:spPr>
            <a:xfrm>
              <a:off x="476250" y="1333500"/>
              <a:ext cx="2667000" cy="2857500"/>
            </a:xfrm>
            <a:custGeom>
              <a:avLst/>
              <a:gdLst/>
              <a:ahLst/>
              <a:cxnLst/>
              <a:rect l="l" t="t" r="r" b="b"/>
              <a:pathLst>
                <a:path w="2667000" h="2857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571761" y="0"/>
                  </a:lnTo>
                  <a:lnTo>
                    <a:pt x="2624599" y="16001"/>
                  </a:lnTo>
                  <a:lnTo>
                    <a:pt x="2659750" y="58792"/>
                  </a:lnTo>
                  <a:lnTo>
                    <a:pt x="2666999" y="95238"/>
                  </a:lnTo>
                  <a:lnTo>
                    <a:pt x="2666999" y="2762261"/>
                  </a:lnTo>
                  <a:lnTo>
                    <a:pt x="2659515" y="2799332"/>
                  </a:lnTo>
                  <a:lnTo>
                    <a:pt x="2639105" y="2829605"/>
                  </a:lnTo>
                  <a:lnTo>
                    <a:pt x="2608832" y="2850015"/>
                  </a:lnTo>
                  <a:lnTo>
                    <a:pt x="2571761" y="2857499"/>
                  </a:lnTo>
                  <a:lnTo>
                    <a:pt x="95238" y="2857499"/>
                  </a:lnTo>
                  <a:lnTo>
                    <a:pt x="58167" y="2850015"/>
                  </a:lnTo>
                  <a:lnTo>
                    <a:pt x="27894" y="2829605"/>
                  </a:lnTo>
                  <a:lnTo>
                    <a:pt x="7484" y="2799332"/>
                  </a:lnTo>
                  <a:lnTo>
                    <a:pt x="0" y="2762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0231" y="1500568"/>
              <a:ext cx="168275" cy="168275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233737" y="1328737"/>
            <a:ext cx="2676525" cy="2867025"/>
            <a:chOff x="3233737" y="1328737"/>
            <a:chExt cx="2676525" cy="2867025"/>
          </a:xfrm>
        </p:grpSpPr>
        <p:sp>
          <p:nvSpPr>
            <p:cNvPr id="9" name="object 9"/>
            <p:cNvSpPr/>
            <p:nvPr/>
          </p:nvSpPr>
          <p:spPr>
            <a:xfrm>
              <a:off x="3238500" y="1333500"/>
              <a:ext cx="2667000" cy="2857500"/>
            </a:xfrm>
            <a:custGeom>
              <a:avLst/>
              <a:gdLst/>
              <a:ahLst/>
              <a:cxnLst/>
              <a:rect l="l" t="t" r="r" b="b"/>
              <a:pathLst>
                <a:path w="2667000" h="28575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2571761" y="0"/>
                  </a:lnTo>
                  <a:lnTo>
                    <a:pt x="2624599" y="16001"/>
                  </a:lnTo>
                  <a:lnTo>
                    <a:pt x="2659750" y="58792"/>
                  </a:lnTo>
                  <a:lnTo>
                    <a:pt x="2666999" y="95238"/>
                  </a:lnTo>
                  <a:lnTo>
                    <a:pt x="2666999" y="2762261"/>
                  </a:lnTo>
                  <a:lnTo>
                    <a:pt x="2659515" y="2799332"/>
                  </a:lnTo>
                  <a:lnTo>
                    <a:pt x="2639105" y="2829605"/>
                  </a:lnTo>
                  <a:lnTo>
                    <a:pt x="2608832" y="2850015"/>
                  </a:lnTo>
                  <a:lnTo>
                    <a:pt x="2571761" y="2857499"/>
                  </a:lnTo>
                  <a:lnTo>
                    <a:pt x="95238" y="2857499"/>
                  </a:lnTo>
                  <a:lnTo>
                    <a:pt x="58167" y="2850015"/>
                  </a:lnTo>
                  <a:lnTo>
                    <a:pt x="27894" y="2829605"/>
                  </a:lnTo>
                  <a:lnTo>
                    <a:pt x="7484" y="2799332"/>
                  </a:lnTo>
                  <a:lnTo>
                    <a:pt x="0" y="27622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19450" y="1500568"/>
              <a:ext cx="190500" cy="17145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5995987" y="1328737"/>
            <a:ext cx="2677160" cy="2867660"/>
            <a:chOff x="5995987" y="1328737"/>
            <a:chExt cx="2677160" cy="286766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5987" y="1328737"/>
              <a:ext cx="2676599" cy="28670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25400" y="1478343"/>
              <a:ext cx="206375" cy="2159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706856" y="1522793"/>
            <a:ext cx="2263140" cy="1788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022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Khâu</a:t>
            </a:r>
            <a:r>
              <a:rPr sz="13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Tìm</a:t>
            </a:r>
            <a:r>
              <a:rPr sz="13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kiếm</a:t>
            </a:r>
            <a:endParaRPr sz="1300" dirty="0">
              <a:latin typeface="Verdana"/>
              <a:cs typeface="Verdana"/>
            </a:endParaRPr>
          </a:p>
          <a:p>
            <a:pPr marL="321310" marR="48895" indent="-309245">
              <a:lnSpc>
                <a:spcPct val="101200"/>
              </a:lnSpc>
              <a:spcBef>
                <a:spcPts val="915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Nhượng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bộ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tiêu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chuẩn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35" dirty="0">
                <a:solidFill>
                  <a:srgbClr val="444444"/>
                </a:solidFill>
                <a:latin typeface="Verdana"/>
                <a:cs typeface="Verdana"/>
              </a:rPr>
              <a:t>kỹ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thuật/diện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tích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do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áp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lực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chỉ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tiêu.</a:t>
            </a:r>
            <a:endParaRPr sz="1050" dirty="0">
              <a:latin typeface="Verdana"/>
              <a:cs typeface="Verdana"/>
            </a:endParaRPr>
          </a:p>
          <a:p>
            <a:pPr marL="321310" marR="12509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Thỏa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thuận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ngầm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nâng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giá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thuê.</a:t>
            </a:r>
            <a:endParaRPr sz="1050" dirty="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Giao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tiếp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rõ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ràng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về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HSPL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gây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tranh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chấp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với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chủ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nhà.</a:t>
            </a:r>
            <a:endParaRPr sz="105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69106" y="1522793"/>
            <a:ext cx="2245995" cy="2131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6725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Khâu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Thẩm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 định</a:t>
            </a:r>
            <a:endParaRPr sz="1300">
              <a:latin typeface="Verdana"/>
              <a:cs typeface="Verdana"/>
            </a:endParaRPr>
          </a:p>
          <a:p>
            <a:pPr marL="317500" marR="76835" indent="-305435" algn="just">
              <a:lnSpc>
                <a:spcPct val="101200"/>
              </a:lnSpc>
              <a:spcBef>
                <a:spcPts val="915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Quá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chú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trọng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tài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chính,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bỏ 	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qua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rủi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ro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hạ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tầng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(nhà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cũ, 	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kết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cấu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yếu).</a:t>
            </a:r>
            <a:endParaRPr sz="1050">
              <a:latin typeface="Verdana"/>
              <a:cs typeface="Verdana"/>
            </a:endParaRPr>
          </a:p>
          <a:p>
            <a:pPr marL="321310" marR="197485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Định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giá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phí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gia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cố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thực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tế.</a:t>
            </a:r>
            <a:endParaRPr sz="1050">
              <a:latin typeface="Verdana"/>
              <a:cs typeface="Verdana"/>
            </a:endParaRPr>
          </a:p>
          <a:p>
            <a:pPr marL="321310" marR="330835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Bỏ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lọt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rủi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ro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quy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hoạch, HLGT.</a:t>
            </a:r>
            <a:endParaRPr sz="105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45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Chấp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nhận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mặt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bằng</a:t>
            </a:r>
            <a:r>
              <a:rPr sz="1050" spc="-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thiếu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HSPL</a:t>
            </a:r>
            <a:r>
              <a:rPr sz="1050" spc="-3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(không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phép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XD,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thiếu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điện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3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pha).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642094" y="1522793"/>
            <a:ext cx="16198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sz="1300" b="1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C00000"/>
                </a:solidFill>
                <a:latin typeface="Verdana"/>
                <a:cs typeface="Verdana"/>
              </a:rPr>
              <a:t>định</a:t>
            </a:r>
            <a:r>
              <a:rPr sz="1300" b="1" spc="-4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C00000"/>
                </a:solidFill>
                <a:latin typeface="Verdana"/>
                <a:cs typeface="Verdana"/>
              </a:rPr>
              <a:t>HĐTĐ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83300" y="2437473"/>
            <a:ext cx="2312035" cy="98742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50" b="1" dirty="0">
                <a:solidFill>
                  <a:srgbClr val="C00000"/>
                </a:solidFill>
                <a:latin typeface="Verdana"/>
                <a:cs typeface="Verdana"/>
              </a:rPr>
              <a:t>Quyết</a:t>
            </a:r>
            <a:r>
              <a:rPr sz="105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C00000"/>
                </a:solidFill>
                <a:latin typeface="Verdana"/>
                <a:cs typeface="Verdana"/>
              </a:rPr>
              <a:t>định</a:t>
            </a:r>
            <a:r>
              <a:rPr sz="105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C00000"/>
                </a:solidFill>
                <a:latin typeface="Verdana"/>
                <a:cs typeface="Verdana"/>
              </a:rPr>
              <a:t>"Đồng</a:t>
            </a:r>
            <a:r>
              <a:rPr sz="1050" b="1" spc="-5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050" b="1" spc="-25" dirty="0">
                <a:solidFill>
                  <a:srgbClr val="C00000"/>
                </a:solidFill>
                <a:latin typeface="Verdana"/>
                <a:cs typeface="Verdana"/>
              </a:rPr>
              <a:t>ý"</a:t>
            </a:r>
            <a:endParaRPr sz="1050">
              <a:latin typeface="Verdana"/>
              <a:cs typeface="Verdana"/>
            </a:endParaRPr>
          </a:p>
          <a:p>
            <a:pPr marL="12700" marR="5080">
              <a:lnSpc>
                <a:spcPct val="101200"/>
              </a:lnSpc>
              <a:spcBef>
                <a:spcPts val="600"/>
              </a:spcBef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Dựa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trên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dữ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liệu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khảo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sát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sơ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bộ,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các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cảnh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báo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về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pháp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lý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xây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dựng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hoặc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chi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phí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gia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cố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kết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cấu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phát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sinh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lớn.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71500" y="4381500"/>
            <a:ext cx="8001000" cy="14604"/>
          </a:xfrm>
          <a:custGeom>
            <a:avLst/>
            <a:gdLst/>
            <a:ahLst/>
            <a:cxnLst/>
            <a:rect l="l" t="t" r="r" b="b"/>
            <a:pathLst>
              <a:path w="8001000" h="14604">
                <a:moveTo>
                  <a:pt x="8000999" y="14399"/>
                </a:moveTo>
                <a:lnTo>
                  <a:pt x="0" y="143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43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38" y="238309"/>
            <a:ext cx="2355130" cy="36646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 marL="87313">
              <a:lnSpc>
                <a:spcPct val="100000"/>
              </a:lnSpc>
              <a:spcBef>
                <a:spcPts val="540"/>
              </a:spcBef>
            </a:pPr>
            <a:r>
              <a:rPr lang="en-US" sz="1400" dirty="0">
                <a:latin typeface="Verdana"/>
                <a:cs typeface="Verdana"/>
              </a:rPr>
              <a:t>GIAI </a:t>
            </a:r>
            <a:r>
              <a:rPr lang="en-US" sz="1400" dirty="0" err="1">
                <a:latin typeface="Verdana"/>
                <a:cs typeface="Verdana"/>
              </a:rPr>
              <a:t>ĐOẠN</a:t>
            </a:r>
            <a:r>
              <a:rPr lang="en-US" sz="1400" dirty="0">
                <a:latin typeface="Verdana"/>
                <a:cs typeface="Verdana"/>
              </a:rPr>
              <a:t> 1: </a:t>
            </a:r>
            <a:r>
              <a:rPr lang="en-US" sz="1400" dirty="0" err="1">
                <a:latin typeface="Verdana"/>
                <a:cs typeface="Verdana"/>
              </a:rPr>
              <a:t>TÌM</a:t>
            </a:r>
            <a:r>
              <a:rPr lang="en-US" sz="1400" dirty="0">
                <a:latin typeface="Verdana"/>
                <a:cs typeface="Verdana"/>
              </a:rPr>
              <a:t> </a:t>
            </a:r>
            <a:r>
              <a:rPr lang="en-US" sz="1400" dirty="0" err="1">
                <a:latin typeface="Verdana"/>
                <a:cs typeface="Verdana"/>
              </a:rPr>
              <a:t>KIẾM</a:t>
            </a:r>
            <a:r>
              <a:rPr lang="en-US" sz="1400" dirty="0">
                <a:latin typeface="Verdana"/>
                <a:cs typeface="Verdana"/>
              </a:rPr>
              <a:t> &amp; </a:t>
            </a:r>
            <a:r>
              <a:rPr lang="en-US" sz="1400" dirty="0" err="1">
                <a:latin typeface="Verdana"/>
                <a:cs typeface="Verdana"/>
              </a:rPr>
              <a:t>THẨM</a:t>
            </a:r>
            <a:r>
              <a:rPr lang="en-US" sz="1400" dirty="0">
                <a:latin typeface="Verdana"/>
                <a:cs typeface="Verdana"/>
              </a:rPr>
              <a:t> ĐỊNH </a:t>
            </a:r>
            <a:r>
              <a:rPr lang="en-US" sz="1400" dirty="0" err="1">
                <a:latin typeface="Verdana"/>
                <a:cs typeface="Verdana"/>
              </a:rPr>
              <a:t>MẶT</a:t>
            </a:r>
            <a:r>
              <a:rPr lang="en-US" sz="1400" dirty="0">
                <a:latin typeface="Verdana"/>
                <a:cs typeface="Verdana"/>
              </a:rPr>
              <a:t> BẰNG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66380" y="890916"/>
            <a:ext cx="340867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vi-VN" sz="1200" b="1" dirty="0">
                <a:solidFill>
                  <a:srgbClr val="C00000"/>
                </a:solidFill>
                <a:latin typeface="Verdana"/>
                <a:cs typeface="Verdana"/>
              </a:rPr>
              <a:t>Hệ quả Thực tế</a:t>
            </a:r>
            <a:endParaRPr lang="vi-VN"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2486025" cy="2486025"/>
            <a:chOff x="566737" y="1423987"/>
            <a:chExt cx="2486025" cy="24860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93874" y="1697355"/>
              <a:ext cx="431800" cy="37465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3314" y="2100245"/>
            <a:ext cx="2012950" cy="96075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Đôn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Thư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2299"/>
              </a:lnSpc>
              <a:spcBef>
                <a:spcPts val="7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Vướng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hành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lang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giao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666666"/>
                </a:solidFill>
                <a:latin typeface="Verdana"/>
                <a:cs typeface="Verdana"/>
              </a:rPr>
              <a:t>thông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(HLGT),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nguy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cơ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bị</a:t>
            </a:r>
            <a:r>
              <a:rPr sz="1100" spc="-3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phá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dỡ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cao.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328987" y="1423987"/>
            <a:ext cx="2486025" cy="2486025"/>
            <a:chOff x="3328987" y="1423987"/>
            <a:chExt cx="2486025" cy="2486025"/>
          </a:xfrm>
        </p:grpSpPr>
        <p:sp>
          <p:nvSpPr>
            <p:cNvPr id="10" name="object 10"/>
            <p:cNvSpPr/>
            <p:nvPr/>
          </p:nvSpPr>
          <p:spPr>
            <a:xfrm>
              <a:off x="333375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8349" y="1706880"/>
              <a:ext cx="387350" cy="3683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535810" y="2100245"/>
            <a:ext cx="2072639" cy="96075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14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Tây</a:t>
            </a:r>
            <a:r>
              <a:rPr sz="14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Tựu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2299"/>
              </a:lnSpc>
              <a:spcBef>
                <a:spcPts val="7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Bị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đình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chỉ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thi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công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do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không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có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Giấy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phép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xây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dựng </a:t>
            </a:r>
            <a:r>
              <a:rPr sz="1100" spc="-10" dirty="0">
                <a:solidFill>
                  <a:srgbClr val="666666"/>
                </a:solidFill>
                <a:latin typeface="Verdana"/>
                <a:cs typeface="Verdana"/>
              </a:rPr>
              <a:t>(GPXD).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1237" y="1423987"/>
            <a:ext cx="2486025" cy="2486025"/>
            <a:chOff x="6091237" y="1423987"/>
            <a:chExt cx="2486025" cy="2486025"/>
          </a:xfrm>
        </p:grpSpPr>
        <p:sp>
          <p:nvSpPr>
            <p:cNvPr id="14" name="object 14"/>
            <p:cNvSpPr/>
            <p:nvPr/>
          </p:nvSpPr>
          <p:spPr>
            <a:xfrm>
              <a:off x="6096000" y="1428750"/>
              <a:ext cx="2476500" cy="2476500"/>
            </a:xfrm>
            <a:custGeom>
              <a:avLst/>
              <a:gdLst/>
              <a:ahLst/>
              <a:cxnLst/>
              <a:rect l="l" t="t" r="r" b="b"/>
              <a:pathLst>
                <a:path w="2476500" h="2476500">
                  <a:moveTo>
                    <a:pt x="0" y="142869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333630" y="0"/>
                  </a:lnTo>
                  <a:lnTo>
                    <a:pt x="2388304" y="10875"/>
                  </a:lnTo>
                  <a:lnTo>
                    <a:pt x="2434654" y="41845"/>
                  </a:lnTo>
                  <a:lnTo>
                    <a:pt x="2465624" y="88195"/>
                  </a:lnTo>
                  <a:lnTo>
                    <a:pt x="2476499" y="142869"/>
                  </a:lnTo>
                  <a:lnTo>
                    <a:pt x="2476499" y="2333630"/>
                  </a:lnTo>
                  <a:lnTo>
                    <a:pt x="2469216" y="2378788"/>
                  </a:lnTo>
                  <a:lnTo>
                    <a:pt x="2448934" y="2418007"/>
                  </a:lnTo>
                  <a:lnTo>
                    <a:pt x="2418007" y="2448934"/>
                  </a:lnTo>
                  <a:lnTo>
                    <a:pt x="2378788" y="2469216"/>
                  </a:lnTo>
                  <a:lnTo>
                    <a:pt x="2333630" y="2476499"/>
                  </a:lnTo>
                  <a:lnTo>
                    <a:pt x="142869" y="2476499"/>
                  </a:lnTo>
                  <a:lnTo>
                    <a:pt x="97711" y="2469216"/>
                  </a:lnTo>
                  <a:lnTo>
                    <a:pt x="58492" y="2448934"/>
                  </a:lnTo>
                  <a:lnTo>
                    <a:pt x="27565" y="2418007"/>
                  </a:lnTo>
                  <a:lnTo>
                    <a:pt x="7283" y="2378788"/>
                  </a:lnTo>
                  <a:lnTo>
                    <a:pt x="0" y="2333630"/>
                  </a:lnTo>
                  <a:lnTo>
                    <a:pt x="0" y="142869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29500" y="1716405"/>
              <a:ext cx="206375" cy="35560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336472" y="2100245"/>
            <a:ext cx="1996439" cy="789305"/>
          </a:xfrm>
          <a:prstGeom prst="rect">
            <a:avLst/>
          </a:prstGeom>
        </p:spPr>
        <p:txBody>
          <a:bodyPr vert="horz" wrap="square" lIns="0" tIns="1308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3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MB</a:t>
            </a:r>
            <a:r>
              <a:rPr sz="14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Đông</a:t>
            </a:r>
            <a:r>
              <a:rPr sz="14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Hạ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2299"/>
              </a:lnSpc>
              <a:spcBef>
                <a:spcPts val="700"/>
              </a:spcBef>
            </a:pP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Đất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nông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nghiệp,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không</a:t>
            </a:r>
            <a:r>
              <a:rPr sz="1100" spc="-5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666666"/>
                </a:solidFill>
                <a:latin typeface="Verdana"/>
                <a:cs typeface="Verdana"/>
              </a:rPr>
              <a:t>thể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cấp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được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nguồn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điện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666666"/>
                </a:solidFill>
                <a:latin typeface="Verdana"/>
                <a:cs typeface="Verdana"/>
              </a:rPr>
              <a:t>3</a:t>
            </a:r>
            <a:r>
              <a:rPr sz="110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666666"/>
                </a:solidFill>
                <a:latin typeface="Verdana"/>
                <a:cs typeface="Verdana"/>
              </a:rPr>
              <a:t>pha.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381500"/>
            <a:ext cx="8001000" cy="14604"/>
          </a:xfrm>
          <a:custGeom>
            <a:avLst/>
            <a:gdLst/>
            <a:ahLst/>
            <a:cxnLst/>
            <a:rect l="l" t="t" r="r" b="b"/>
            <a:pathLst>
              <a:path w="8001000" h="14604">
                <a:moveTo>
                  <a:pt x="8000999" y="14399"/>
                </a:moveTo>
                <a:lnTo>
                  <a:pt x="0" y="143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43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2: THIẾT KẾ &amp; LẬP DỰ TOÁN (BOQ)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6975" y="976133"/>
            <a:ext cx="438721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3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1487" y="1519237"/>
            <a:ext cx="2581910" cy="2295525"/>
            <a:chOff x="471487" y="1519237"/>
            <a:chExt cx="2581910" cy="2295525"/>
          </a:xfrm>
        </p:grpSpPr>
        <p:sp>
          <p:nvSpPr>
            <p:cNvPr id="7" name="object 7"/>
            <p:cNvSpPr/>
            <p:nvPr/>
          </p:nvSpPr>
          <p:spPr>
            <a:xfrm>
              <a:off x="47625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5" h="2286000">
                  <a:moveTo>
                    <a:pt x="2429024" y="2285999"/>
                  </a:move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25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5" h="22860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27274" y="2002155"/>
              <a:ext cx="469900" cy="2540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76905" y="2503847"/>
            <a:ext cx="2168525" cy="94043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75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Khảo</a:t>
            </a:r>
            <a:r>
              <a:rPr sz="1400" b="1" spc="-3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sát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hiện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Verdana"/>
                <a:cs typeface="Verdana"/>
              </a:rPr>
              <a:t>trạng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1200"/>
              </a:lnSpc>
              <a:spcBef>
                <a:spcPts val="720"/>
              </a:spcBef>
            </a:pP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Thu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thập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dữ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liệu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thực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tế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tại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mặt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bằng,</a:t>
            </a:r>
            <a:r>
              <a:rPr sz="105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đánh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giá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các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điều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kiện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kỹ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thuật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hiện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hữu.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143250" y="2619375"/>
            <a:ext cx="286385" cy="95885"/>
            <a:chOff x="3143250" y="2619375"/>
            <a:chExt cx="286385" cy="9588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3250" y="2657475"/>
              <a:ext cx="285899" cy="191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52800" y="2619375"/>
              <a:ext cx="76199" cy="95399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3519487" y="1519237"/>
            <a:ext cx="2105025" cy="2295525"/>
            <a:chOff x="3519487" y="1519237"/>
            <a:chExt cx="2105025" cy="2295525"/>
          </a:xfrm>
        </p:grpSpPr>
        <p:sp>
          <p:nvSpPr>
            <p:cNvPr id="15" name="object 15"/>
            <p:cNvSpPr/>
            <p:nvPr/>
          </p:nvSpPr>
          <p:spPr>
            <a:xfrm>
              <a:off x="3524250" y="1524000"/>
              <a:ext cx="2095500" cy="2286000"/>
            </a:xfrm>
            <a:custGeom>
              <a:avLst/>
              <a:gdLst/>
              <a:ahLst/>
              <a:cxnLst/>
              <a:rect l="l" t="t" r="r" b="b"/>
              <a:pathLst>
                <a:path w="2095500" h="2286000">
                  <a:moveTo>
                    <a:pt x="1952628" y="2285999"/>
                  </a:moveTo>
                  <a:lnTo>
                    <a:pt x="142870" y="2285999"/>
                  </a:lnTo>
                  <a:lnTo>
                    <a:pt x="97712" y="2278716"/>
                  </a:lnTo>
                  <a:lnTo>
                    <a:pt x="58493" y="2258434"/>
                  </a:lnTo>
                  <a:lnTo>
                    <a:pt x="27565" y="2227506"/>
                  </a:lnTo>
                  <a:lnTo>
                    <a:pt x="7283" y="2188287"/>
                  </a:lnTo>
                  <a:lnTo>
                    <a:pt x="0" y="21431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1952628" y="0"/>
                  </a:lnTo>
                  <a:lnTo>
                    <a:pt x="2007303" y="10875"/>
                  </a:lnTo>
                  <a:lnTo>
                    <a:pt x="2053653" y="41845"/>
                  </a:lnTo>
                  <a:lnTo>
                    <a:pt x="2084624" y="88196"/>
                  </a:lnTo>
                  <a:lnTo>
                    <a:pt x="2095499" y="142870"/>
                  </a:lnTo>
                  <a:lnTo>
                    <a:pt x="2095499" y="2143128"/>
                  </a:lnTo>
                  <a:lnTo>
                    <a:pt x="2088216" y="2188287"/>
                  </a:lnTo>
                  <a:lnTo>
                    <a:pt x="2067934" y="2227506"/>
                  </a:lnTo>
                  <a:lnTo>
                    <a:pt x="2037006" y="2258434"/>
                  </a:lnTo>
                  <a:lnTo>
                    <a:pt x="1997787" y="2278716"/>
                  </a:lnTo>
                  <a:lnTo>
                    <a:pt x="1952628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24250" y="1524000"/>
              <a:ext cx="2095500" cy="2286000"/>
            </a:xfrm>
            <a:custGeom>
              <a:avLst/>
              <a:gdLst/>
              <a:ahLst/>
              <a:cxnLst/>
              <a:rect l="l" t="t" r="r" b="b"/>
              <a:pathLst>
                <a:path w="2095500" h="22860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1952628" y="0"/>
                  </a:lnTo>
                  <a:lnTo>
                    <a:pt x="2007303" y="10875"/>
                  </a:lnTo>
                  <a:lnTo>
                    <a:pt x="2053653" y="41845"/>
                  </a:lnTo>
                  <a:lnTo>
                    <a:pt x="2084624" y="88196"/>
                  </a:lnTo>
                  <a:lnTo>
                    <a:pt x="2095499" y="142870"/>
                  </a:lnTo>
                  <a:lnTo>
                    <a:pt x="2095499" y="2143128"/>
                  </a:lnTo>
                  <a:lnTo>
                    <a:pt x="2088216" y="2188287"/>
                  </a:lnTo>
                  <a:lnTo>
                    <a:pt x="2067934" y="2227506"/>
                  </a:lnTo>
                  <a:lnTo>
                    <a:pt x="2037006" y="2258434"/>
                  </a:lnTo>
                  <a:lnTo>
                    <a:pt x="1997787" y="2278716"/>
                  </a:lnTo>
                  <a:lnTo>
                    <a:pt x="1952628" y="2285999"/>
                  </a:lnTo>
                  <a:lnTo>
                    <a:pt x="142870" y="2285999"/>
                  </a:lnTo>
                  <a:lnTo>
                    <a:pt x="97712" y="2278716"/>
                  </a:lnTo>
                  <a:lnTo>
                    <a:pt x="58493" y="2258434"/>
                  </a:lnTo>
                  <a:lnTo>
                    <a:pt x="27565" y="2227506"/>
                  </a:lnTo>
                  <a:lnTo>
                    <a:pt x="7283" y="2188287"/>
                  </a:lnTo>
                  <a:lnTo>
                    <a:pt x="0" y="21431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51374" y="1833880"/>
              <a:ext cx="241300" cy="3810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716323" y="2523363"/>
            <a:ext cx="1710055" cy="10255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345440" marR="336550" algn="ctr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Thiết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kế</a:t>
            </a:r>
            <a:r>
              <a:rPr sz="14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333333"/>
                </a:solidFill>
                <a:latin typeface="Verdana"/>
                <a:cs typeface="Verdana"/>
              </a:rPr>
              <a:t>&amp; </a:t>
            </a:r>
            <a:r>
              <a:rPr sz="1400" b="1" spc="-10" dirty="0">
                <a:solidFill>
                  <a:srgbClr val="333333"/>
                </a:solidFill>
                <a:latin typeface="Verdana"/>
                <a:cs typeface="Verdana"/>
              </a:rPr>
              <a:t>Layout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1200"/>
              </a:lnSpc>
              <a:spcBef>
                <a:spcPts val="665"/>
              </a:spcBef>
            </a:pP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Phát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triển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ý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tưởng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không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gian,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bố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trí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công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năng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và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thẩm</a:t>
            </a:r>
            <a:r>
              <a:rPr sz="1050" spc="-3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mỹ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chi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tiết.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15000" y="2619375"/>
            <a:ext cx="286385" cy="95885"/>
            <a:chOff x="5715000" y="2619375"/>
            <a:chExt cx="286385" cy="9588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0" y="2657475"/>
              <a:ext cx="285899" cy="191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24550" y="2619375"/>
              <a:ext cx="76199" cy="95399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6091237" y="1519237"/>
            <a:ext cx="2581910" cy="2295525"/>
            <a:chOff x="6091237" y="1519237"/>
            <a:chExt cx="2581910" cy="2295525"/>
          </a:xfrm>
        </p:grpSpPr>
        <p:sp>
          <p:nvSpPr>
            <p:cNvPr id="23" name="object 23"/>
            <p:cNvSpPr/>
            <p:nvPr/>
          </p:nvSpPr>
          <p:spPr>
            <a:xfrm>
              <a:off x="609600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4" h="2286000">
                  <a:moveTo>
                    <a:pt x="2429024" y="2285999"/>
                  </a:move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096000" y="1524000"/>
              <a:ext cx="2572385" cy="2286000"/>
            </a:xfrm>
            <a:custGeom>
              <a:avLst/>
              <a:gdLst/>
              <a:ahLst/>
              <a:cxnLst/>
              <a:rect l="l" t="t" r="r" b="b"/>
              <a:pathLst>
                <a:path w="2572384" h="22860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2429024" y="0"/>
                  </a:lnTo>
                  <a:lnTo>
                    <a:pt x="2483700" y="10875"/>
                  </a:lnTo>
                  <a:lnTo>
                    <a:pt x="2530052" y="41847"/>
                  </a:lnTo>
                  <a:lnTo>
                    <a:pt x="2561024" y="88199"/>
                  </a:lnTo>
                  <a:lnTo>
                    <a:pt x="2571899" y="142874"/>
                  </a:lnTo>
                  <a:lnTo>
                    <a:pt x="2571899" y="2143124"/>
                  </a:lnTo>
                  <a:lnTo>
                    <a:pt x="2564616" y="2188284"/>
                  </a:lnTo>
                  <a:lnTo>
                    <a:pt x="2544333" y="2227505"/>
                  </a:lnTo>
                  <a:lnTo>
                    <a:pt x="2513405" y="2258433"/>
                  </a:lnTo>
                  <a:lnTo>
                    <a:pt x="2474184" y="2278716"/>
                  </a:lnTo>
                  <a:lnTo>
                    <a:pt x="2429024" y="2285999"/>
                  </a:lnTo>
                  <a:lnTo>
                    <a:pt x="142874" y="2285999"/>
                  </a:lnTo>
                  <a:lnTo>
                    <a:pt x="97715" y="2278716"/>
                  </a:lnTo>
                  <a:lnTo>
                    <a:pt x="58494" y="2258433"/>
                  </a:lnTo>
                  <a:lnTo>
                    <a:pt x="27566" y="2227505"/>
                  </a:lnTo>
                  <a:lnTo>
                    <a:pt x="7283" y="2188284"/>
                  </a:lnTo>
                  <a:lnTo>
                    <a:pt x="0" y="21431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10525" y="1811655"/>
              <a:ext cx="342900" cy="42545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332401" y="2523363"/>
            <a:ext cx="2098040" cy="10255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85420" marR="176530" algn="ctr">
              <a:lnSpc>
                <a:spcPts val="1650"/>
              </a:lnSpc>
              <a:spcBef>
                <a:spcPts val="18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Phát</a:t>
            </a:r>
            <a:r>
              <a:rPr sz="14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hành</a:t>
            </a:r>
            <a:r>
              <a:rPr sz="14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BOQ</a:t>
            </a:r>
            <a:r>
              <a:rPr sz="14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333333"/>
                </a:solidFill>
                <a:latin typeface="Verdana"/>
                <a:cs typeface="Verdana"/>
              </a:rPr>
              <a:t>&amp;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Ngân</a:t>
            </a:r>
            <a:r>
              <a:rPr sz="1400" b="1" spc="-6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sách</a:t>
            </a:r>
            <a:endParaRPr sz="1400">
              <a:latin typeface="Verdana"/>
              <a:cs typeface="Verdana"/>
            </a:endParaRPr>
          </a:p>
          <a:p>
            <a:pPr marL="12700" marR="5080" algn="ctr">
              <a:lnSpc>
                <a:spcPct val="101200"/>
              </a:lnSpc>
              <a:spcBef>
                <a:spcPts val="665"/>
              </a:spcBef>
            </a:pP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Lập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bảng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khối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lượng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chi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tiết</a:t>
            </a:r>
            <a:r>
              <a:rPr sz="1050" spc="-1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và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xác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định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tổng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mức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đầu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666666"/>
                </a:solidFill>
                <a:latin typeface="Verdana"/>
                <a:cs typeface="Verdana"/>
              </a:rPr>
              <a:t>tư</a:t>
            </a:r>
            <a:r>
              <a:rPr sz="1050" spc="-20" dirty="0">
                <a:solidFill>
                  <a:srgbClr val="666666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666666"/>
                </a:solidFill>
                <a:latin typeface="Verdana"/>
                <a:cs typeface="Verdana"/>
              </a:rPr>
              <a:t>dự </a:t>
            </a:r>
            <a:r>
              <a:rPr sz="1050" spc="-10" dirty="0">
                <a:solidFill>
                  <a:srgbClr val="666666"/>
                </a:solidFill>
                <a:latin typeface="Verdana"/>
                <a:cs typeface="Verdana"/>
              </a:rPr>
              <a:t>kiến.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1500" y="447675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30" name="object 2">
            <a:extLst>
              <a:ext uri="{FF2B5EF4-FFF2-40B4-BE49-F238E27FC236}">
                <a16:creationId xmlns:a16="http://schemas.microsoft.com/office/drawing/2014/main" id="{5D2FD2BD-9FDE-9FA3-DE38-34B4721C5D9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2: THIẾT KẾ &amp; LẬP DỰ TOÁN (BOQ)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6975" y="976133"/>
            <a:ext cx="438721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PHÂN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TÍCH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3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3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lang="en-US" sz="1300" dirty="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71487" y="1423987"/>
            <a:ext cx="2581910" cy="2676525"/>
            <a:chOff x="471487" y="1423987"/>
            <a:chExt cx="2581910" cy="2676525"/>
          </a:xfrm>
        </p:grpSpPr>
        <p:sp>
          <p:nvSpPr>
            <p:cNvPr id="7" name="object 7"/>
            <p:cNvSpPr/>
            <p:nvPr/>
          </p:nvSpPr>
          <p:spPr>
            <a:xfrm>
              <a:off x="47625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5" h="2667000">
                  <a:moveTo>
                    <a:pt x="2429030" y="2666999"/>
                  </a:move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0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0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25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5" h="2667000">
                  <a:moveTo>
                    <a:pt x="0" y="142868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0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0" y="2666999"/>
                  </a:ln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4924" y="1704594"/>
              <a:ext cx="374650" cy="2032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802106" y="2180463"/>
            <a:ext cx="1936750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45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Khảo</a:t>
            </a:r>
            <a:r>
              <a:rPr sz="1400" b="1" spc="-6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sát</a:t>
            </a:r>
            <a:endParaRPr sz="1400">
              <a:latin typeface="Verdana"/>
              <a:cs typeface="Verdana"/>
            </a:endParaRPr>
          </a:p>
          <a:p>
            <a:pPr marL="321310" marR="297180" indent="-309245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Đánh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giá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"hộp"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qua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ảnh/video.</a:t>
            </a:r>
            <a:endParaRPr sz="105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lệch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kích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thước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thực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tế.</a:t>
            </a:r>
            <a:endParaRPr sz="1050">
              <a:latin typeface="Verdana"/>
              <a:cs typeface="Verdana"/>
            </a:endParaRPr>
          </a:p>
          <a:p>
            <a:pPr marL="321310" marR="19367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Bỏ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lọt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các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lỗi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hạ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tầng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ngầm.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233737" y="1423987"/>
            <a:ext cx="2676525" cy="2676525"/>
            <a:chOff x="3233737" y="1423987"/>
            <a:chExt cx="2676525" cy="2676525"/>
          </a:xfrm>
        </p:grpSpPr>
        <p:sp>
          <p:nvSpPr>
            <p:cNvPr id="12" name="object 12"/>
            <p:cNvSpPr/>
            <p:nvPr/>
          </p:nvSpPr>
          <p:spPr>
            <a:xfrm>
              <a:off x="3238500" y="14287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2524128" y="2666999"/>
                  </a:moveTo>
                  <a:lnTo>
                    <a:pt x="142870" y="2666999"/>
                  </a:lnTo>
                  <a:lnTo>
                    <a:pt x="97712" y="2659716"/>
                  </a:lnTo>
                  <a:lnTo>
                    <a:pt x="58493" y="2639434"/>
                  </a:lnTo>
                  <a:lnTo>
                    <a:pt x="27565" y="2608506"/>
                  </a:lnTo>
                  <a:lnTo>
                    <a:pt x="7283" y="2569287"/>
                  </a:lnTo>
                  <a:lnTo>
                    <a:pt x="0" y="2524128"/>
                  </a:lnTo>
                  <a:lnTo>
                    <a:pt x="0" y="142871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524128" y="0"/>
                  </a:lnTo>
                  <a:lnTo>
                    <a:pt x="2578803" y="10875"/>
                  </a:lnTo>
                  <a:lnTo>
                    <a:pt x="2625153" y="41845"/>
                  </a:lnTo>
                  <a:lnTo>
                    <a:pt x="2656124" y="88196"/>
                  </a:lnTo>
                  <a:lnTo>
                    <a:pt x="2666999" y="142871"/>
                  </a:lnTo>
                  <a:lnTo>
                    <a:pt x="2666999" y="2524128"/>
                  </a:lnTo>
                  <a:lnTo>
                    <a:pt x="2659716" y="2569287"/>
                  </a:lnTo>
                  <a:lnTo>
                    <a:pt x="2639434" y="2608506"/>
                  </a:lnTo>
                  <a:lnTo>
                    <a:pt x="2608506" y="2639434"/>
                  </a:lnTo>
                  <a:lnTo>
                    <a:pt x="2569287" y="2659716"/>
                  </a:lnTo>
                  <a:lnTo>
                    <a:pt x="2524128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38500" y="1428750"/>
              <a:ext cx="2667000" cy="2667000"/>
            </a:xfrm>
            <a:custGeom>
              <a:avLst/>
              <a:gdLst/>
              <a:ahLst/>
              <a:cxnLst/>
              <a:rect l="l" t="t" r="r" b="b"/>
              <a:pathLst>
                <a:path w="2667000" h="2667000">
                  <a:moveTo>
                    <a:pt x="0" y="142871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524128" y="0"/>
                  </a:lnTo>
                  <a:lnTo>
                    <a:pt x="2578803" y="10875"/>
                  </a:lnTo>
                  <a:lnTo>
                    <a:pt x="2625153" y="41845"/>
                  </a:lnTo>
                  <a:lnTo>
                    <a:pt x="2656124" y="88196"/>
                  </a:lnTo>
                  <a:lnTo>
                    <a:pt x="2666999" y="142871"/>
                  </a:lnTo>
                  <a:lnTo>
                    <a:pt x="2666999" y="2524128"/>
                  </a:lnTo>
                  <a:lnTo>
                    <a:pt x="2659716" y="2569287"/>
                  </a:lnTo>
                  <a:lnTo>
                    <a:pt x="2639434" y="2608506"/>
                  </a:lnTo>
                  <a:lnTo>
                    <a:pt x="2608506" y="2639434"/>
                  </a:lnTo>
                  <a:lnTo>
                    <a:pt x="2569287" y="2659716"/>
                  </a:lnTo>
                  <a:lnTo>
                    <a:pt x="2524128" y="2666999"/>
                  </a:lnTo>
                  <a:lnTo>
                    <a:pt x="142870" y="2666999"/>
                  </a:lnTo>
                  <a:lnTo>
                    <a:pt x="97712" y="2659716"/>
                  </a:lnTo>
                  <a:lnTo>
                    <a:pt x="58493" y="2639434"/>
                  </a:lnTo>
                  <a:lnTo>
                    <a:pt x="27565" y="2608506"/>
                  </a:lnTo>
                  <a:lnTo>
                    <a:pt x="7283" y="2569287"/>
                  </a:lnTo>
                  <a:lnTo>
                    <a:pt x="0" y="2524128"/>
                  </a:lnTo>
                  <a:lnTo>
                    <a:pt x="0" y="142871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76799" y="1653794"/>
              <a:ext cx="193675" cy="3048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564356" y="2180463"/>
            <a:ext cx="2110105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452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Thiết</a:t>
            </a:r>
            <a:r>
              <a:rPr sz="1400" b="1" spc="-25" dirty="0">
                <a:solidFill>
                  <a:srgbClr val="C00000"/>
                </a:solidFill>
                <a:latin typeface="Verdana"/>
                <a:cs typeface="Verdana"/>
              </a:rPr>
              <a:t> kế</a:t>
            </a:r>
            <a:endParaRPr sz="1400">
              <a:latin typeface="Verdana"/>
              <a:cs typeface="Verdana"/>
            </a:endParaRPr>
          </a:p>
          <a:p>
            <a:pPr marL="321310" marR="5080" indent="-309245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"Chạy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lụt"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tiến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độ</a:t>
            </a:r>
            <a:r>
              <a:rPr sz="1050" spc="-3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dẫn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đến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sai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sót.</a:t>
            </a:r>
            <a:endParaRPr sz="1050">
              <a:latin typeface="Verdana"/>
              <a:cs typeface="Verdana"/>
            </a:endParaRPr>
          </a:p>
          <a:p>
            <a:pPr marL="321310" marR="7175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Bản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vẽ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tính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toán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tải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trọng.</a:t>
            </a:r>
            <a:endParaRPr sz="1050">
              <a:latin typeface="Verdana"/>
              <a:cs typeface="Verdana"/>
            </a:endParaRPr>
          </a:p>
          <a:p>
            <a:pPr marL="321310" marR="106045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Layout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vướng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cột/hộp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kỹ 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thuật.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91237" y="1423987"/>
            <a:ext cx="2581910" cy="2676525"/>
            <a:chOff x="6091237" y="1423987"/>
            <a:chExt cx="2581910" cy="2676525"/>
          </a:xfrm>
        </p:grpSpPr>
        <p:sp>
          <p:nvSpPr>
            <p:cNvPr id="17" name="object 17"/>
            <p:cNvSpPr/>
            <p:nvPr/>
          </p:nvSpPr>
          <p:spPr>
            <a:xfrm>
              <a:off x="609600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4" h="2667000">
                  <a:moveTo>
                    <a:pt x="2429031" y="2666999"/>
                  </a:move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1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0" y="1428750"/>
              <a:ext cx="2572385" cy="2667000"/>
            </a:xfrm>
            <a:custGeom>
              <a:avLst/>
              <a:gdLst/>
              <a:ahLst/>
              <a:cxnLst/>
              <a:rect l="l" t="t" r="r" b="b"/>
              <a:pathLst>
                <a:path w="2572384" h="2667000">
                  <a:moveTo>
                    <a:pt x="0" y="142868"/>
                  </a:moveTo>
                  <a:lnTo>
                    <a:pt x="7283" y="97711"/>
                  </a:lnTo>
                  <a:lnTo>
                    <a:pt x="27565" y="58492"/>
                  </a:lnTo>
                  <a:lnTo>
                    <a:pt x="58492" y="27565"/>
                  </a:lnTo>
                  <a:lnTo>
                    <a:pt x="97711" y="7283"/>
                  </a:lnTo>
                  <a:lnTo>
                    <a:pt x="142869" y="0"/>
                  </a:lnTo>
                  <a:lnTo>
                    <a:pt x="2429031" y="0"/>
                  </a:lnTo>
                  <a:lnTo>
                    <a:pt x="2483704" y="10875"/>
                  </a:lnTo>
                  <a:lnTo>
                    <a:pt x="2530054" y="41845"/>
                  </a:lnTo>
                  <a:lnTo>
                    <a:pt x="2561024" y="88195"/>
                  </a:lnTo>
                  <a:lnTo>
                    <a:pt x="2571899" y="142868"/>
                  </a:lnTo>
                  <a:lnTo>
                    <a:pt x="2571899" y="2524130"/>
                  </a:lnTo>
                  <a:lnTo>
                    <a:pt x="2564616" y="2569288"/>
                  </a:lnTo>
                  <a:lnTo>
                    <a:pt x="2544334" y="2608507"/>
                  </a:lnTo>
                  <a:lnTo>
                    <a:pt x="2513407" y="2639434"/>
                  </a:lnTo>
                  <a:lnTo>
                    <a:pt x="2474188" y="2659716"/>
                  </a:lnTo>
                  <a:lnTo>
                    <a:pt x="2429031" y="2666999"/>
                  </a:lnTo>
                  <a:lnTo>
                    <a:pt x="142869" y="2666999"/>
                  </a:lnTo>
                  <a:lnTo>
                    <a:pt x="97711" y="2659716"/>
                  </a:lnTo>
                  <a:lnTo>
                    <a:pt x="58492" y="2639434"/>
                  </a:lnTo>
                  <a:lnTo>
                    <a:pt x="27565" y="2608507"/>
                  </a:lnTo>
                  <a:lnTo>
                    <a:pt x="7283" y="2569288"/>
                  </a:lnTo>
                  <a:lnTo>
                    <a:pt x="0" y="2524130"/>
                  </a:lnTo>
                  <a:lnTo>
                    <a:pt x="0" y="14286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45474" y="1634744"/>
              <a:ext cx="273050" cy="3429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6421856" y="2180463"/>
            <a:ext cx="2029460" cy="1263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Dự</a:t>
            </a:r>
            <a:r>
              <a:rPr sz="14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C00000"/>
                </a:solidFill>
                <a:latin typeface="Verdana"/>
                <a:cs typeface="Verdana"/>
              </a:rPr>
              <a:t>toán</a:t>
            </a:r>
            <a:r>
              <a:rPr sz="14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C00000"/>
                </a:solidFill>
                <a:latin typeface="Verdana"/>
                <a:cs typeface="Verdana"/>
              </a:rPr>
              <a:t>(BOQ)</a:t>
            </a:r>
            <a:endParaRPr sz="1400">
              <a:latin typeface="Verdana"/>
              <a:cs typeface="Verdana"/>
            </a:endParaRPr>
          </a:p>
          <a:p>
            <a:pPr marL="317500" marR="5080" indent="-305435" algn="just">
              <a:lnSpc>
                <a:spcPct val="101200"/>
              </a:lnSpc>
              <a:spcBef>
                <a:spcPts val="109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Thiếu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khối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lượng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do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khảo 	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sát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hời</a:t>
            </a:r>
            <a:r>
              <a:rPr sz="1050" spc="-1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hợt.</a:t>
            </a:r>
            <a:endParaRPr sz="1050">
              <a:latin typeface="Verdana"/>
              <a:cs typeface="Verdana"/>
            </a:endParaRPr>
          </a:p>
          <a:p>
            <a:pPr marL="317500" marR="170815" indent="-305435" algn="just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321310" algn="l"/>
              </a:tabLst>
            </a:pP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Nhà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thầu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cắt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xén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hạng 	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mục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an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toàn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để</a:t>
            </a:r>
            <a:r>
              <a:rPr sz="1050" spc="-15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44444"/>
                </a:solidFill>
                <a:latin typeface="Verdana"/>
                <a:cs typeface="Verdana"/>
              </a:rPr>
              <a:t>bù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44444"/>
                </a:solidFill>
                <a:latin typeface="Verdana"/>
                <a:cs typeface="Verdana"/>
              </a:rPr>
              <a:t>chi 	</a:t>
            </a:r>
            <a:r>
              <a:rPr sz="1050" spc="-20" dirty="0">
                <a:solidFill>
                  <a:srgbClr val="444444"/>
                </a:solidFill>
                <a:latin typeface="Verdana"/>
                <a:cs typeface="Verdana"/>
              </a:rPr>
              <a:t>phí.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71500" y="4476750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4" name="object 2">
            <a:extLst>
              <a:ext uri="{FF2B5EF4-FFF2-40B4-BE49-F238E27FC236}">
                <a16:creationId xmlns:a16="http://schemas.microsoft.com/office/drawing/2014/main" id="{7C720555-CA39-6998-CB1B-3D180F12C60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3: LỰA CHỌN NHÀ THẦU (MPO)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0965" y="945510"/>
            <a:ext cx="370967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3862" y="1709737"/>
            <a:ext cx="1914525" cy="2105025"/>
            <a:chOff x="423862" y="1709737"/>
            <a:chExt cx="1914525" cy="2105025"/>
          </a:xfrm>
        </p:grpSpPr>
        <p:sp>
          <p:nvSpPr>
            <p:cNvPr id="6" name="object 6"/>
            <p:cNvSpPr/>
            <p:nvPr/>
          </p:nvSpPr>
          <p:spPr>
            <a:xfrm>
              <a:off x="42862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62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774" y="2279967"/>
              <a:ext cx="304800" cy="3397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725147" y="2923921"/>
            <a:ext cx="131127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45134" marR="5080" indent="-43307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Lập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hồ</a:t>
            </a:r>
            <a:r>
              <a:rPr sz="130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sơ</a:t>
            </a:r>
            <a:r>
              <a:rPr sz="1300" b="1" spc="-1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mời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thầu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66987" y="1709737"/>
            <a:ext cx="1914525" cy="2105025"/>
            <a:chOff x="2566987" y="1709737"/>
            <a:chExt cx="1914525" cy="2105025"/>
          </a:xfrm>
        </p:grpSpPr>
        <p:sp>
          <p:nvSpPr>
            <p:cNvPr id="11" name="object 11"/>
            <p:cNvSpPr/>
            <p:nvPr/>
          </p:nvSpPr>
          <p:spPr>
            <a:xfrm>
              <a:off x="257175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7175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52849" y="2314892"/>
              <a:ext cx="342900" cy="3048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883584" y="3023933"/>
            <a:ext cx="1280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Đánh</a:t>
            </a:r>
            <a:r>
              <a:rPr sz="13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giá</a:t>
            </a:r>
            <a:r>
              <a:rPr sz="13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NCC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710112" y="1709737"/>
            <a:ext cx="1914525" cy="2105025"/>
            <a:chOff x="4710112" y="1709737"/>
            <a:chExt cx="1914525" cy="2105025"/>
          </a:xfrm>
        </p:grpSpPr>
        <p:sp>
          <p:nvSpPr>
            <p:cNvPr id="16" name="object 16"/>
            <p:cNvSpPr/>
            <p:nvPr/>
          </p:nvSpPr>
          <p:spPr>
            <a:xfrm>
              <a:off x="471487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14875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80099" y="2279967"/>
              <a:ext cx="361950" cy="3746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001928" y="2923921"/>
            <a:ext cx="133032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22885" marR="5080" indent="-21082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Đấu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thầu/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Chỉ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định</a:t>
            </a:r>
            <a:r>
              <a:rPr sz="1300" b="1" spc="-5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thầu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53237" y="1709737"/>
            <a:ext cx="1914525" cy="2105025"/>
            <a:chOff x="6853237" y="1709737"/>
            <a:chExt cx="1914525" cy="2105025"/>
          </a:xfrm>
        </p:grpSpPr>
        <p:sp>
          <p:nvSpPr>
            <p:cNvPr id="21" name="object 21"/>
            <p:cNvSpPr/>
            <p:nvPr/>
          </p:nvSpPr>
          <p:spPr>
            <a:xfrm>
              <a:off x="685800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1762124" y="2095499"/>
                  </a:move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858000" y="1714500"/>
              <a:ext cx="1905000" cy="2095500"/>
            </a:xfrm>
            <a:custGeom>
              <a:avLst/>
              <a:gdLst/>
              <a:ahLst/>
              <a:cxnLst/>
              <a:rect l="l" t="t" r="r" b="b"/>
              <a:pathLst>
                <a:path w="1905000" h="2095500">
                  <a:moveTo>
                    <a:pt x="0" y="142874"/>
                  </a:moveTo>
                  <a:lnTo>
                    <a:pt x="7283" y="97715"/>
                  </a:lnTo>
                  <a:lnTo>
                    <a:pt x="27566" y="58494"/>
                  </a:lnTo>
                  <a:lnTo>
                    <a:pt x="58494" y="27566"/>
                  </a:lnTo>
                  <a:lnTo>
                    <a:pt x="97715" y="7283"/>
                  </a:lnTo>
                  <a:lnTo>
                    <a:pt x="142874" y="0"/>
                  </a:lnTo>
                  <a:lnTo>
                    <a:pt x="1762124" y="0"/>
                  </a:lnTo>
                  <a:lnTo>
                    <a:pt x="1816800" y="10875"/>
                  </a:lnTo>
                  <a:lnTo>
                    <a:pt x="1863152" y="41846"/>
                  </a:lnTo>
                  <a:lnTo>
                    <a:pt x="1894124" y="88199"/>
                  </a:lnTo>
                  <a:lnTo>
                    <a:pt x="1904999" y="142874"/>
                  </a:lnTo>
                  <a:lnTo>
                    <a:pt x="1904999" y="1952624"/>
                  </a:lnTo>
                  <a:lnTo>
                    <a:pt x="1897716" y="1997784"/>
                  </a:lnTo>
                  <a:lnTo>
                    <a:pt x="1877433" y="2037005"/>
                  </a:lnTo>
                  <a:lnTo>
                    <a:pt x="1846505" y="2067933"/>
                  </a:lnTo>
                  <a:lnTo>
                    <a:pt x="1807284" y="2088216"/>
                  </a:lnTo>
                  <a:lnTo>
                    <a:pt x="1762124" y="2095499"/>
                  </a:lnTo>
                  <a:lnTo>
                    <a:pt x="142874" y="2095499"/>
                  </a:lnTo>
                  <a:lnTo>
                    <a:pt x="97715" y="2088216"/>
                  </a:lnTo>
                  <a:lnTo>
                    <a:pt x="58494" y="2067933"/>
                  </a:lnTo>
                  <a:lnTo>
                    <a:pt x="27566" y="2037005"/>
                  </a:lnTo>
                  <a:lnTo>
                    <a:pt x="7283" y="1997784"/>
                  </a:lnTo>
                  <a:lnTo>
                    <a:pt x="0" y="1952624"/>
                  </a:lnTo>
                  <a:lnTo>
                    <a:pt x="0" y="142874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58149" y="2314892"/>
              <a:ext cx="298450" cy="3048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220043" y="3023933"/>
            <a:ext cx="11804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Ký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hợp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đồng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57401" y="2609850"/>
            <a:ext cx="157199" cy="1142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5800" y="2609850"/>
            <a:ext cx="157199" cy="1142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9400" y="2609850"/>
            <a:ext cx="157199" cy="114299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31" name="object 2">
            <a:extLst>
              <a:ext uri="{FF2B5EF4-FFF2-40B4-BE49-F238E27FC236}">
                <a16:creationId xmlns:a16="http://schemas.microsoft.com/office/drawing/2014/main" id="{10E5EC7C-4966-BB96-5C15-C4EF7A74311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3: LỰA CHỌN NHÀ THẦU (MPO)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95091" y="938541"/>
            <a:ext cx="41503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PHÂN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TÍCH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2987" y="1423987"/>
            <a:ext cx="3343910" cy="2676525"/>
            <a:chOff x="1042987" y="1423987"/>
            <a:chExt cx="3343910" cy="2676525"/>
          </a:xfrm>
        </p:grpSpPr>
        <p:sp>
          <p:nvSpPr>
            <p:cNvPr id="6" name="object 6"/>
            <p:cNvSpPr/>
            <p:nvPr/>
          </p:nvSpPr>
          <p:spPr>
            <a:xfrm>
              <a:off x="104775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5" h="2667000">
                  <a:moveTo>
                    <a:pt x="32386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775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26804" y="1726906"/>
              <a:ext cx="374650" cy="2540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85146" y="2188972"/>
            <a:ext cx="10585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C00000"/>
                </a:solidFill>
                <a:latin typeface="Verdana"/>
                <a:cs typeface="Verdana"/>
              </a:rPr>
              <a:t>Lựa</a:t>
            </a:r>
            <a:r>
              <a:rPr sz="1600" b="1" spc="-5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C00000"/>
                </a:solidFill>
                <a:latin typeface="Verdana"/>
                <a:cs typeface="Verdana"/>
              </a:rPr>
              <a:t>chọn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7455" y="2677287"/>
            <a:ext cx="2670175" cy="1126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5080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Tình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trạng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"Khoán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trắng":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Bán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cho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đội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thợ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địa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phương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kém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chuyên</a:t>
            </a:r>
            <a:r>
              <a:rPr sz="1100" spc="-7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môn.</a:t>
            </a:r>
            <a:endParaRPr sz="1100">
              <a:latin typeface="Verdana"/>
              <a:cs typeface="Verdana"/>
            </a:endParaRPr>
          </a:p>
          <a:p>
            <a:pPr marL="320675" marR="131445" indent="-308610" algn="just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Nhà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thầu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trúng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nhiều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dẫn 	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đến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vắng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bóng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Chỉ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huy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hiện 	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trường.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757737" y="1423987"/>
            <a:ext cx="3343910" cy="2676525"/>
            <a:chOff x="4757737" y="1423987"/>
            <a:chExt cx="3343910" cy="2676525"/>
          </a:xfrm>
        </p:grpSpPr>
        <p:sp>
          <p:nvSpPr>
            <p:cNvPr id="12" name="object 12"/>
            <p:cNvSpPr/>
            <p:nvPr/>
          </p:nvSpPr>
          <p:spPr>
            <a:xfrm>
              <a:off x="476250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4" h="2667000">
                  <a:moveTo>
                    <a:pt x="32386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62500" y="1428750"/>
              <a:ext cx="3334385" cy="2667000"/>
            </a:xfrm>
            <a:custGeom>
              <a:avLst/>
              <a:gdLst/>
              <a:ahLst/>
              <a:cxnLst/>
              <a:rect l="l" t="t" r="r" b="b"/>
              <a:pathLst>
                <a:path w="33343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238661" y="0"/>
                  </a:lnTo>
                  <a:lnTo>
                    <a:pt x="3291499" y="16001"/>
                  </a:lnTo>
                  <a:lnTo>
                    <a:pt x="3326650" y="58792"/>
                  </a:lnTo>
                  <a:lnTo>
                    <a:pt x="3333899" y="95238"/>
                  </a:lnTo>
                  <a:lnTo>
                    <a:pt x="3333899" y="2571761"/>
                  </a:lnTo>
                  <a:lnTo>
                    <a:pt x="3326415" y="2608832"/>
                  </a:lnTo>
                  <a:lnTo>
                    <a:pt x="3306005" y="2639105"/>
                  </a:lnTo>
                  <a:lnTo>
                    <a:pt x="3275732" y="2659515"/>
                  </a:lnTo>
                  <a:lnTo>
                    <a:pt x="32386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63779" y="1726906"/>
              <a:ext cx="307975" cy="25400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705624" y="2188972"/>
            <a:ext cx="14471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C00000"/>
                </a:solidFill>
                <a:latin typeface="Verdana"/>
                <a:cs typeface="Verdana"/>
              </a:rPr>
              <a:t>Ký</a:t>
            </a:r>
            <a:r>
              <a:rPr sz="16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C00000"/>
                </a:solidFill>
                <a:latin typeface="Verdana"/>
                <a:cs typeface="Verdana"/>
              </a:rPr>
              <a:t>hợp</a:t>
            </a:r>
            <a:r>
              <a:rPr sz="16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C00000"/>
                </a:solidFill>
                <a:latin typeface="Verdana"/>
                <a:cs typeface="Verdana"/>
              </a:rPr>
              <a:t>đồng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32205" y="2763012"/>
            <a:ext cx="2640330" cy="9550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281305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Hợp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đồng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dài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hạn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tạo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sự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chủ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quan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trong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việc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duy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trì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chất 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lượng.</a:t>
            </a:r>
            <a:endParaRPr sz="1100">
              <a:latin typeface="Verdana"/>
              <a:cs typeface="Verdana"/>
            </a:endParaRPr>
          </a:p>
          <a:p>
            <a:pPr marL="325120" marR="5080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Cơ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chế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phạt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phạm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An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toàn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lao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động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(ATLĐ)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thiếu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tính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răn</a:t>
            </a:r>
            <a:r>
              <a:rPr sz="1100" spc="-5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đe.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524375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2435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132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F76F6CBE-1615-F531-3109-ECBF8C09370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4: THI CÔNG &amp; GIÁM SÁT (TRỌNG TÂM)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46114" y="890916"/>
            <a:ext cx="444817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1987" y="1709737"/>
            <a:ext cx="2200910" cy="2105025"/>
            <a:chOff x="661987" y="1709737"/>
            <a:chExt cx="2200910" cy="2105025"/>
          </a:xfrm>
        </p:grpSpPr>
        <p:sp>
          <p:nvSpPr>
            <p:cNvPr id="6" name="object 6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93974" y="2352992"/>
              <a:ext cx="336550" cy="31750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984253" y="3071558"/>
            <a:ext cx="155448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Phá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dỡ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Cải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tạo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05125" y="1709737"/>
            <a:ext cx="2624455" cy="2105025"/>
            <a:chOff x="2905125" y="1709737"/>
            <a:chExt cx="2624455" cy="210502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5125" y="2752725"/>
              <a:ext cx="285899" cy="19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90875" y="2714625"/>
              <a:ext cx="95399" cy="953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33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33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9549" y="2346642"/>
              <a:ext cx="279400" cy="33655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838426" y="3071558"/>
            <a:ext cx="11811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Lắp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đặt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M&amp;E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72125" y="1709737"/>
            <a:ext cx="2624455" cy="2105025"/>
            <a:chOff x="5572125" y="1709737"/>
            <a:chExt cx="2624455" cy="210502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125" y="2752725"/>
              <a:ext cx="285899" cy="191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7875" y="2714625"/>
              <a:ext cx="95399" cy="9539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000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00749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24799" y="2343467"/>
              <a:ext cx="342900" cy="342900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6207199" y="2971546"/>
            <a:ext cx="1777364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688975" marR="5080" indent="-67691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Hoàn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thiện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Nhận diện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1500" y="4381500"/>
            <a:ext cx="8001000" cy="19685"/>
          </a:xfrm>
          <a:custGeom>
            <a:avLst/>
            <a:gdLst/>
            <a:ahLst/>
            <a:cxnLst/>
            <a:rect l="l" t="t" r="r" b="b"/>
            <a:pathLst>
              <a:path w="8001000" h="19685">
                <a:moveTo>
                  <a:pt x="8000999" y="19199"/>
                </a:moveTo>
                <a:lnTo>
                  <a:pt x="0" y="191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191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7" name="object 2">
            <a:extLst>
              <a:ext uri="{FF2B5EF4-FFF2-40B4-BE49-F238E27FC236}">
                <a16:creationId xmlns:a16="http://schemas.microsoft.com/office/drawing/2014/main" id="{35123B4F-2FB9-00F2-3352-AD7CD97AC375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4: THI CÔNG &amp; GIÁM SÁT (TRỌNG TÂM)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4022" y="890916"/>
            <a:ext cx="38722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RO</a:t>
            </a:r>
            <a:r>
              <a:rPr sz="1200" b="1" spc="-30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dirty="0">
                <a:solidFill>
                  <a:srgbClr val="C00000"/>
                </a:solidFill>
                <a:latin typeface="Verdana"/>
                <a:cs typeface="Verdana"/>
              </a:rPr>
              <a:t>THI</a:t>
            </a:r>
            <a:r>
              <a:rPr sz="1200" b="1" spc="-35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sz="1200" b="1" spc="-20" dirty="0">
                <a:solidFill>
                  <a:srgbClr val="C00000"/>
                </a:solidFill>
                <a:latin typeface="Verdana"/>
                <a:cs typeface="Verdana"/>
              </a:rPr>
              <a:t>CÔNG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2664" y="1728063"/>
              <a:ext cx="282575" cy="2444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224662" y="2119058"/>
            <a:ext cx="25977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Vi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phạm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Kỹ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thuật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An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toàn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1205" y="2629737"/>
            <a:ext cx="3166110" cy="103124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129539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Tự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ý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thay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đổi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biện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pháp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thi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nguy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hiểm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(VD: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dùng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máy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xúc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thay</a:t>
            </a:r>
            <a:r>
              <a:rPr sz="1100" spc="-4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dầm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I).</a:t>
            </a:r>
            <a:endParaRPr sz="1100">
              <a:latin typeface="Verdana"/>
              <a:cs typeface="Verdana"/>
            </a:endParaRPr>
          </a:p>
          <a:p>
            <a:pPr marL="325120" marR="5080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Vi</a:t>
            </a:r>
            <a:r>
              <a:rPr sz="1100" spc="-6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phạm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ATLĐ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nghiêm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trọng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(không</a:t>
            </a:r>
            <a:r>
              <a:rPr sz="1100" spc="-6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bảo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hộ,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thi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điện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sống).</a:t>
            </a:r>
            <a:endParaRPr sz="1100">
              <a:latin typeface="Verdana"/>
              <a:cs typeface="Verdana"/>
            </a:endParaRPr>
          </a:p>
          <a:p>
            <a:pPr marL="325120" indent="-312420">
              <a:lnSpc>
                <a:spcPct val="100000"/>
              </a:lnSpc>
              <a:spcBef>
                <a:spcPts val="63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Bỏ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qua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cảnh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báo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cho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hộ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liền</a:t>
            </a:r>
            <a:r>
              <a:rPr sz="1100" spc="-25" dirty="0">
                <a:solidFill>
                  <a:srgbClr val="453D2B"/>
                </a:solidFill>
                <a:latin typeface="Verdana"/>
                <a:cs typeface="Verdana"/>
              </a:rPr>
              <a:t> kề.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14" y="1740763"/>
              <a:ext cx="279400" cy="2444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91856" y="2119058"/>
            <a:ext cx="24549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Lỗ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hổng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Giám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sát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Vật</a:t>
            </a:r>
            <a:r>
              <a:rPr sz="1300" b="1" spc="-1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tư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36955" y="2753562"/>
            <a:ext cx="3262629" cy="7835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25120" marR="5080" indent="-313055">
              <a:lnSpc>
                <a:spcPct val="102299"/>
              </a:lnSpc>
              <a:spcBef>
                <a:spcPts val="7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Vắng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mặt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Chỉ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huy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trưởng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&amp;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GSXD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thời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sz="1100" spc="-5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nhạy</a:t>
            </a:r>
            <a:r>
              <a:rPr sz="1100" spc="-4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20" dirty="0">
                <a:solidFill>
                  <a:srgbClr val="453D2B"/>
                </a:solidFill>
                <a:latin typeface="Verdana"/>
                <a:cs typeface="Verdana"/>
              </a:rPr>
              <a:t>cảm.</a:t>
            </a:r>
            <a:endParaRPr sz="1100">
              <a:latin typeface="Verdana"/>
              <a:cs typeface="Verdana"/>
            </a:endParaRPr>
          </a:p>
          <a:p>
            <a:pPr marL="325120" marR="410209" indent="-313055">
              <a:lnSpc>
                <a:spcPct val="102299"/>
              </a:lnSpc>
              <a:spcBef>
                <a:spcPts val="600"/>
              </a:spcBef>
              <a:buFont typeface="Microsoft Sans Serif"/>
              <a:buChar char="●"/>
              <a:tabLst>
                <a:tab pos="325120" algn="l"/>
              </a:tabLst>
            </a:pP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Hiện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tượng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"Rút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ruột"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vật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liệu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(thép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mỏng,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dây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điện</a:t>
            </a:r>
            <a:r>
              <a:rPr sz="1100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kém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453D2B"/>
                </a:solidFill>
                <a:latin typeface="Verdana"/>
                <a:cs typeface="Verdana"/>
              </a:rPr>
              <a:t>chất</a:t>
            </a:r>
            <a:r>
              <a:rPr sz="1100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100" spc="-10" dirty="0">
                <a:solidFill>
                  <a:srgbClr val="453D2B"/>
                </a:solidFill>
                <a:latin typeface="Verdana"/>
                <a:cs typeface="Verdana"/>
              </a:rPr>
              <a:t>lượng).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373502EE-62CE-D2A1-919D-2F475201B4A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4: THI CÔNG &amp; GIÁM SÁT (TRỌNG TÂM)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34022" y="890916"/>
            <a:ext cx="387222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Quá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tải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Giám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sát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Xây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dựng</a:t>
            </a:r>
            <a:endParaRPr lang="en-US"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3139" y="1826488"/>
              <a:ext cx="301625" cy="1555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969677" y="2209038"/>
            <a:ext cx="11093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Thực</a:t>
            </a:r>
            <a:r>
              <a:rPr sz="14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333333"/>
                </a:solidFill>
                <a:latin typeface="Verdana"/>
                <a:cs typeface="Verdana"/>
              </a:rPr>
              <a:t>trạng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4550" y="2601506"/>
            <a:ext cx="3227070" cy="9620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4"/>
              </a:spcBef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Hiện nay, đội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ngũ giám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đang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phải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đối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mặt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với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khối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lượng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000" spc="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việc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vượt</a:t>
            </a:r>
            <a:r>
              <a:rPr sz="1000" spc="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chuẩn:</a:t>
            </a:r>
            <a:endParaRPr sz="1000">
              <a:latin typeface="Verdana"/>
              <a:cs typeface="Verdana"/>
            </a:endParaRPr>
          </a:p>
          <a:p>
            <a:pPr marL="469265" indent="-306070">
              <a:lnSpc>
                <a:spcPct val="100000"/>
              </a:lnSpc>
              <a:spcBef>
                <a:spcPts val="75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1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Giám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quản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lý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từ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5-10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cửa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hàng.</a:t>
            </a:r>
            <a:endParaRPr sz="1000">
              <a:latin typeface="Verdana"/>
              <a:cs typeface="Verdana"/>
            </a:endParaRPr>
          </a:p>
          <a:p>
            <a:pPr marL="469900" marR="208279" indent="-30670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Địa bàn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quản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lý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rộng,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liên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tỉnh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gây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khó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khăn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trong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di</a:t>
            </a:r>
            <a:r>
              <a:rPr sz="1000" spc="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chuyển.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8414" y="1775688"/>
              <a:ext cx="282575" cy="24447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822650" y="2209038"/>
            <a:ext cx="15938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Hệ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quả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&amp;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333333"/>
                </a:solidFill>
                <a:latin typeface="Verdana"/>
                <a:cs typeface="Verdana"/>
              </a:rPr>
              <a:t>Rủi</a:t>
            </a:r>
            <a:r>
              <a:rPr sz="1400" b="1" spc="-3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400" b="1" spc="-25" dirty="0">
                <a:solidFill>
                  <a:srgbClr val="333333"/>
                </a:solidFill>
                <a:latin typeface="Verdana"/>
                <a:cs typeface="Verdana"/>
              </a:rPr>
              <a:t>ro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90873" y="2601506"/>
            <a:ext cx="3146425" cy="9429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18770" marR="119380" indent="-306705">
              <a:lnSpc>
                <a:spcPct val="100000"/>
              </a:lnSpc>
              <a:spcBef>
                <a:spcPts val="114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thể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đảm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bảo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giám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sát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24/7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tại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các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điểm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nóng.</a:t>
            </a:r>
            <a:endParaRPr sz="1000">
              <a:latin typeface="Verdana"/>
              <a:cs typeface="Verdana"/>
            </a:endParaRPr>
          </a:p>
          <a:p>
            <a:pPr marL="318770" marR="100965" indent="-306705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Nghiệm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thu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rủi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ro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qua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"báo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cáo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hình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453D2B"/>
                </a:solidFill>
                <a:latin typeface="Verdana"/>
                <a:cs typeface="Verdana"/>
              </a:rPr>
              <a:t>ảnh"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không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trung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thực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từ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nhà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453D2B"/>
                </a:solidFill>
                <a:latin typeface="Verdana"/>
                <a:cs typeface="Verdana"/>
              </a:rPr>
              <a:t>thầu.</a:t>
            </a:r>
            <a:endParaRPr sz="1000">
              <a:latin typeface="Verdana"/>
              <a:cs typeface="Verdana"/>
            </a:endParaRPr>
          </a:p>
          <a:p>
            <a:pPr marL="318770" indent="-306070">
              <a:lnSpc>
                <a:spcPct val="100000"/>
              </a:lnSpc>
              <a:spcBef>
                <a:spcPts val="600"/>
              </a:spcBef>
              <a:buFont typeface="Microsoft Sans Serif"/>
              <a:buChar char="●"/>
              <a:tabLst>
                <a:tab pos="318770" algn="l"/>
              </a:tabLst>
            </a:pP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Tiềm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ẩn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sai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sót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kỹ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thuật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và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gian</a:t>
            </a:r>
            <a:r>
              <a:rPr sz="1000" spc="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lận</a:t>
            </a:r>
            <a:r>
              <a:rPr sz="1000" spc="1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453D2B"/>
                </a:solidFill>
                <a:latin typeface="Verdana"/>
                <a:cs typeface="Verdana"/>
              </a:rPr>
              <a:t>vật</a:t>
            </a:r>
            <a:r>
              <a:rPr sz="1000" spc="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00" spc="-25" dirty="0">
                <a:solidFill>
                  <a:srgbClr val="453D2B"/>
                </a:solidFill>
                <a:latin typeface="Verdana"/>
                <a:cs typeface="Verdana"/>
              </a:rPr>
              <a:t>tư.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A1581D2B-1ED8-638B-9CB7-65A85812BEA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5: NGHIỆM THU &amp; QUYẾT TOÁN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709775" y="890916"/>
            <a:ext cx="37211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SƠ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ĐỒ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QUY TRÌNH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61987" y="1709737"/>
            <a:ext cx="2200910" cy="2105025"/>
            <a:chOff x="661987" y="1709737"/>
            <a:chExt cx="2200910" cy="2105025"/>
          </a:xfrm>
        </p:grpSpPr>
        <p:sp>
          <p:nvSpPr>
            <p:cNvPr id="6" name="object 6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1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1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9849" y="2375217"/>
              <a:ext cx="304800" cy="3397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09518" y="2971546"/>
            <a:ext cx="1504950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9875" marR="5080" indent="-257810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Nghiệm</a:t>
            </a:r>
            <a:r>
              <a:rPr sz="1300" b="1" spc="-5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thu</a:t>
            </a:r>
            <a:r>
              <a:rPr sz="13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bàn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giao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(D-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1)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905125" y="2724150"/>
            <a:ext cx="286385" cy="76200"/>
            <a:chOff x="2905125" y="2724150"/>
            <a:chExt cx="286385" cy="7620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05125" y="2752725"/>
              <a:ext cx="285899" cy="191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24200" y="2724150"/>
              <a:ext cx="66599" cy="761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3328987" y="1709737"/>
            <a:ext cx="2200910" cy="2105025"/>
            <a:chOff x="3328987" y="1709737"/>
            <a:chExt cx="2200910" cy="2105025"/>
          </a:xfrm>
        </p:grpSpPr>
        <p:sp>
          <p:nvSpPr>
            <p:cNvPr id="14" name="object 14"/>
            <p:cNvSpPr/>
            <p:nvPr/>
          </p:nvSpPr>
          <p:spPr>
            <a:xfrm>
              <a:off x="3333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33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5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3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57799" y="2410142"/>
              <a:ext cx="342900" cy="3048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485477" y="2971546"/>
            <a:ext cx="1886585" cy="4235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721360" marR="5080" indent="-709295">
              <a:lnSpc>
                <a:spcPct val="101000"/>
              </a:lnSpc>
              <a:spcBef>
                <a:spcPts val="85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Kiểm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tra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hồ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sơ</a:t>
            </a:r>
            <a:r>
              <a:rPr sz="1300" b="1" spc="-2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hoàn công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572125" y="2724150"/>
            <a:ext cx="286385" cy="76200"/>
            <a:chOff x="5572125" y="2724150"/>
            <a:chExt cx="286385" cy="762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125" y="2752725"/>
              <a:ext cx="285899" cy="1919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91200" y="2724150"/>
              <a:ext cx="66599" cy="7619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5995987" y="1709737"/>
            <a:ext cx="2200910" cy="2105025"/>
            <a:chOff x="5995987" y="1709737"/>
            <a:chExt cx="2200910" cy="2105025"/>
          </a:xfrm>
        </p:grpSpPr>
        <p:sp>
          <p:nvSpPr>
            <p:cNvPr id="22" name="object 22"/>
            <p:cNvSpPr/>
            <p:nvPr/>
          </p:nvSpPr>
          <p:spPr>
            <a:xfrm>
              <a:off x="6000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2048028" y="2095499"/>
                  </a:move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000750" y="1714500"/>
              <a:ext cx="2191385" cy="2095500"/>
            </a:xfrm>
            <a:custGeom>
              <a:avLst/>
              <a:gdLst/>
              <a:ahLst/>
              <a:cxnLst/>
              <a:rect l="l" t="t" r="r" b="b"/>
              <a:pathLst>
                <a:path w="2191384" h="2095500">
                  <a:moveTo>
                    <a:pt x="0" y="142870"/>
                  </a:moveTo>
                  <a:lnTo>
                    <a:pt x="7283" y="97712"/>
                  </a:lnTo>
                  <a:lnTo>
                    <a:pt x="27565" y="58493"/>
                  </a:lnTo>
                  <a:lnTo>
                    <a:pt x="58493" y="27565"/>
                  </a:lnTo>
                  <a:lnTo>
                    <a:pt x="97712" y="7283"/>
                  </a:lnTo>
                  <a:lnTo>
                    <a:pt x="142870" y="0"/>
                  </a:lnTo>
                  <a:lnTo>
                    <a:pt x="2048028" y="0"/>
                  </a:lnTo>
                  <a:lnTo>
                    <a:pt x="2102702" y="10875"/>
                  </a:lnTo>
                  <a:lnTo>
                    <a:pt x="2149053" y="41845"/>
                  </a:lnTo>
                  <a:lnTo>
                    <a:pt x="2180024" y="88196"/>
                  </a:lnTo>
                  <a:lnTo>
                    <a:pt x="2190899" y="142870"/>
                  </a:lnTo>
                  <a:lnTo>
                    <a:pt x="2190899" y="1952628"/>
                  </a:lnTo>
                  <a:lnTo>
                    <a:pt x="2183616" y="1997787"/>
                  </a:lnTo>
                  <a:lnTo>
                    <a:pt x="2163334" y="2037006"/>
                  </a:lnTo>
                  <a:lnTo>
                    <a:pt x="2132406" y="2067934"/>
                  </a:lnTo>
                  <a:lnTo>
                    <a:pt x="2093187" y="2088216"/>
                  </a:lnTo>
                  <a:lnTo>
                    <a:pt x="2048028" y="2095499"/>
                  </a:lnTo>
                  <a:lnTo>
                    <a:pt x="142870" y="2095499"/>
                  </a:lnTo>
                  <a:lnTo>
                    <a:pt x="97712" y="2088216"/>
                  </a:lnTo>
                  <a:lnTo>
                    <a:pt x="58493" y="2067934"/>
                  </a:lnTo>
                  <a:lnTo>
                    <a:pt x="27565" y="2037006"/>
                  </a:lnTo>
                  <a:lnTo>
                    <a:pt x="7283" y="1997787"/>
                  </a:lnTo>
                  <a:lnTo>
                    <a:pt x="0" y="1952628"/>
                  </a:lnTo>
                  <a:lnTo>
                    <a:pt x="0" y="142870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08924" y="2426017"/>
              <a:ext cx="374650" cy="27305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6268488" y="3071558"/>
            <a:ext cx="16548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Thanh</a:t>
            </a:r>
            <a:r>
              <a:rPr sz="13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sz="13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toán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9" name="object 2">
            <a:extLst>
              <a:ext uri="{FF2B5EF4-FFF2-40B4-BE49-F238E27FC236}">
                <a16:creationId xmlns:a16="http://schemas.microsoft.com/office/drawing/2014/main" id="{AD682350-575C-FCBC-29F2-92246AEABC8A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19500" y="190500"/>
            <a:ext cx="5524500" cy="284693"/>
          </a:xfrm>
          <a:prstGeom prst="rect">
            <a:avLst/>
          </a:prstGeom>
          <a:solidFill>
            <a:srgbClr val="C00000"/>
          </a:solidFill>
        </p:spPr>
        <p:txBody>
          <a:bodyPr vert="horz" wrap="square" lIns="0" tIns="685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40"/>
              </a:spcBef>
            </a:pPr>
            <a:r>
              <a:rPr lang="vi-VN" sz="1400" dirty="0">
                <a:latin typeface="Verdana"/>
                <a:cs typeface="Verdana"/>
              </a:rPr>
              <a:t>GIAI ĐOẠN 5: NGHIỆM THU &amp; QUYẾT TOÁN</a:t>
            </a:r>
            <a:endParaRPr sz="1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28069" y="890916"/>
            <a:ext cx="388429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PHÂN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TÍCH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lang="en-US" sz="1200" b="1" dirty="0" err="1">
                <a:solidFill>
                  <a:srgbClr val="C00000"/>
                </a:solidFill>
                <a:latin typeface="Verdana"/>
                <a:cs typeface="Verdana"/>
              </a:rPr>
              <a:t>RỦI</a:t>
            </a:r>
            <a:r>
              <a:rPr lang="en-US" sz="1200" b="1" dirty="0">
                <a:solidFill>
                  <a:srgbClr val="C00000"/>
                </a:solidFill>
                <a:latin typeface="Verdana"/>
                <a:cs typeface="Verdana"/>
              </a:rPr>
              <a:t> RO</a:t>
            </a:r>
            <a:endParaRPr sz="1200" dirty="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66737" y="1423987"/>
            <a:ext cx="3915410" cy="2676525"/>
            <a:chOff x="566737" y="1423987"/>
            <a:chExt cx="3915410" cy="2676525"/>
          </a:xfrm>
        </p:grpSpPr>
        <p:sp>
          <p:nvSpPr>
            <p:cNvPr id="6" name="object 6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150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5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09899" y="1708785"/>
              <a:ext cx="228600" cy="25717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45697" y="2119058"/>
            <a:ext cx="195643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Nghiệm</a:t>
            </a:r>
            <a:r>
              <a:rPr sz="13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thu</a:t>
            </a:r>
            <a:r>
              <a:rPr sz="13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bàn</a:t>
            </a:r>
            <a:r>
              <a:rPr sz="1300" b="1" spc="-4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giao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6925" y="2701428"/>
            <a:ext cx="3223260" cy="9664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328930">
              <a:lnSpc>
                <a:spcPct val="101200"/>
              </a:lnSpc>
              <a:spcBef>
                <a:spcPts val="85"/>
              </a:spcBef>
            </a:pP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Ký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nghiệm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thu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"tạm"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do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áp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lực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tiến</a:t>
            </a:r>
            <a:r>
              <a:rPr sz="1050" b="1" spc="-3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spc="-25" dirty="0">
                <a:solidFill>
                  <a:srgbClr val="453D2B"/>
                </a:solidFill>
                <a:latin typeface="Verdana"/>
                <a:cs typeface="Verdana"/>
              </a:rPr>
              <a:t>độ </a:t>
            </a:r>
            <a:r>
              <a:rPr sz="1050" b="1" spc="-10" dirty="0">
                <a:solidFill>
                  <a:srgbClr val="453D2B"/>
                </a:solidFill>
                <a:latin typeface="Verdana"/>
                <a:cs typeface="Verdana"/>
              </a:rPr>
              <a:t>Opening.</a:t>
            </a:r>
            <a:endParaRPr sz="1050">
              <a:latin typeface="Verdana"/>
              <a:cs typeface="Verdana"/>
            </a:endParaRPr>
          </a:p>
          <a:p>
            <a:pPr marL="469900" marR="5080" indent="-309245">
              <a:lnSpc>
                <a:spcPct val="101200"/>
              </a:lnSpc>
              <a:spcBef>
                <a:spcPts val="600"/>
              </a:spcBef>
              <a:buFont typeface="Microsoft Sans Serif"/>
              <a:buChar char="●"/>
              <a:tabLst>
                <a:tab pos="469900" algn="l"/>
              </a:tabLst>
            </a:pP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Hệ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quả: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Phát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sinh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hư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hỏng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ngay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sau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53D2B"/>
                </a:solidFill>
                <a:latin typeface="Verdana"/>
                <a:cs typeface="Verdana"/>
              </a:rPr>
              <a:t>vận </a:t>
            </a:r>
            <a:r>
              <a:rPr sz="1050" spc="-10" dirty="0">
                <a:solidFill>
                  <a:srgbClr val="453D2B"/>
                </a:solidFill>
                <a:latin typeface="Verdana"/>
                <a:cs typeface="Verdana"/>
              </a:rPr>
              <a:t>hành.</a:t>
            </a:r>
            <a:endParaRPr sz="1050">
              <a:latin typeface="Verdana"/>
              <a:cs typeface="Verdana"/>
            </a:endParaRPr>
          </a:p>
          <a:p>
            <a:pPr marL="469265" indent="-308610">
              <a:lnSpc>
                <a:spcPct val="100000"/>
              </a:lnSpc>
              <a:spcBef>
                <a:spcPts val="464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Rủi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ro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cơ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quan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chức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năng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xử</a:t>
            </a:r>
            <a:r>
              <a:rPr sz="1050" spc="-1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spc="-10" dirty="0">
                <a:solidFill>
                  <a:srgbClr val="453D2B"/>
                </a:solidFill>
                <a:latin typeface="Verdana"/>
                <a:cs typeface="Verdana"/>
              </a:rPr>
              <a:t>phạt.</a:t>
            </a:r>
            <a:endParaRPr sz="105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62487" y="1423987"/>
            <a:ext cx="3915410" cy="2676525"/>
            <a:chOff x="4662487" y="1423987"/>
            <a:chExt cx="3915410" cy="2676525"/>
          </a:xfrm>
        </p:grpSpPr>
        <p:sp>
          <p:nvSpPr>
            <p:cNvPr id="12" name="object 12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3810161" y="2666999"/>
                  </a:move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67250" y="1428750"/>
              <a:ext cx="3905885" cy="2667000"/>
            </a:xfrm>
            <a:custGeom>
              <a:avLst/>
              <a:gdLst/>
              <a:ahLst/>
              <a:cxnLst/>
              <a:rect l="l" t="t" r="r" b="b"/>
              <a:pathLst>
                <a:path w="3905884" h="2667000">
                  <a:moveTo>
                    <a:pt x="0" y="95238"/>
                  </a:moveTo>
                  <a:lnTo>
                    <a:pt x="7484" y="58167"/>
                  </a:lnTo>
                  <a:lnTo>
                    <a:pt x="27894" y="27894"/>
                  </a:lnTo>
                  <a:lnTo>
                    <a:pt x="58167" y="7484"/>
                  </a:lnTo>
                  <a:lnTo>
                    <a:pt x="95238" y="0"/>
                  </a:lnTo>
                  <a:lnTo>
                    <a:pt x="3810161" y="0"/>
                  </a:lnTo>
                  <a:lnTo>
                    <a:pt x="3862999" y="16001"/>
                  </a:lnTo>
                  <a:lnTo>
                    <a:pt x="3898150" y="58792"/>
                  </a:lnTo>
                  <a:lnTo>
                    <a:pt x="3905399" y="95238"/>
                  </a:lnTo>
                  <a:lnTo>
                    <a:pt x="3905399" y="2571761"/>
                  </a:lnTo>
                  <a:lnTo>
                    <a:pt x="3897915" y="2608832"/>
                  </a:lnTo>
                  <a:lnTo>
                    <a:pt x="3877505" y="2639105"/>
                  </a:lnTo>
                  <a:lnTo>
                    <a:pt x="3847232" y="2659515"/>
                  </a:lnTo>
                  <a:lnTo>
                    <a:pt x="3810161" y="2666999"/>
                  </a:lnTo>
                  <a:lnTo>
                    <a:pt x="95238" y="2666999"/>
                  </a:lnTo>
                  <a:lnTo>
                    <a:pt x="58167" y="2659515"/>
                  </a:lnTo>
                  <a:lnTo>
                    <a:pt x="27894" y="2639105"/>
                  </a:lnTo>
                  <a:lnTo>
                    <a:pt x="7484" y="2608832"/>
                  </a:lnTo>
                  <a:lnTo>
                    <a:pt x="0" y="2571761"/>
                  </a:lnTo>
                  <a:lnTo>
                    <a:pt x="0" y="95238"/>
                  </a:lnTo>
                  <a:close/>
                </a:path>
              </a:pathLst>
            </a:custGeom>
            <a:ln w="9524">
              <a:solidFill>
                <a:srgbClr val="E0E0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77075" y="1746885"/>
              <a:ext cx="285750" cy="20955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792313" y="2119058"/>
            <a:ext cx="165481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Thanh</a:t>
            </a:r>
            <a:r>
              <a:rPr sz="1300" b="1" spc="-50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dirty="0">
                <a:solidFill>
                  <a:srgbClr val="333333"/>
                </a:solidFill>
                <a:latin typeface="Verdana"/>
                <a:cs typeface="Verdana"/>
              </a:rPr>
              <a:t>quyết</a:t>
            </a:r>
            <a:r>
              <a:rPr sz="1300" b="1" spc="-45" dirty="0">
                <a:solidFill>
                  <a:srgbClr val="333333"/>
                </a:solidFill>
                <a:latin typeface="Verdana"/>
                <a:cs typeface="Verdana"/>
              </a:rPr>
              <a:t> </a:t>
            </a:r>
            <a:r>
              <a:rPr sz="1300" b="1" spc="-20" dirty="0">
                <a:solidFill>
                  <a:srgbClr val="333333"/>
                </a:solidFill>
                <a:latin typeface="Verdana"/>
                <a:cs typeface="Verdana"/>
              </a:rPr>
              <a:t>toán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92675" y="2891928"/>
            <a:ext cx="3386454" cy="58547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85"/>
              </a:spcBef>
            </a:pP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Hồ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sơ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hoàn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chậm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trễ,</a:t>
            </a:r>
            <a:r>
              <a:rPr sz="1050" b="1" spc="-25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sai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lệch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dirty="0">
                <a:solidFill>
                  <a:srgbClr val="453D2B"/>
                </a:solidFill>
                <a:latin typeface="Verdana"/>
                <a:cs typeface="Verdana"/>
              </a:rPr>
              <a:t>BOQ</a:t>
            </a:r>
            <a:r>
              <a:rPr sz="1050" b="1" spc="-3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b="1" spc="-20" dirty="0">
                <a:solidFill>
                  <a:srgbClr val="453D2B"/>
                </a:solidFill>
                <a:latin typeface="Verdana"/>
                <a:cs typeface="Verdana"/>
              </a:rPr>
              <a:t>thực </a:t>
            </a:r>
            <a:r>
              <a:rPr sz="1050" b="1" spc="-25" dirty="0">
                <a:solidFill>
                  <a:srgbClr val="453D2B"/>
                </a:solidFill>
                <a:latin typeface="Verdana"/>
                <a:cs typeface="Verdana"/>
              </a:rPr>
              <a:t>tế.</a:t>
            </a:r>
            <a:endParaRPr sz="1050">
              <a:latin typeface="Verdana"/>
              <a:cs typeface="Verdana"/>
            </a:endParaRPr>
          </a:p>
          <a:p>
            <a:pPr marL="469265" indent="-308610">
              <a:lnSpc>
                <a:spcPct val="100000"/>
              </a:lnSpc>
              <a:spcBef>
                <a:spcPts val="615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Gây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tắc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nghẽn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công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tác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kiểm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toán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dirty="0">
                <a:solidFill>
                  <a:srgbClr val="453D2B"/>
                </a:solidFill>
                <a:latin typeface="Verdana"/>
                <a:cs typeface="Verdana"/>
              </a:rPr>
              <a:t>nội</a:t>
            </a:r>
            <a:r>
              <a:rPr sz="1050" spc="-20" dirty="0">
                <a:solidFill>
                  <a:srgbClr val="453D2B"/>
                </a:solidFill>
                <a:latin typeface="Verdana"/>
                <a:cs typeface="Verdana"/>
              </a:rPr>
              <a:t> </a:t>
            </a:r>
            <a:r>
              <a:rPr sz="1050" spc="-25" dirty="0">
                <a:solidFill>
                  <a:srgbClr val="453D2B"/>
                </a:solidFill>
                <a:latin typeface="Verdana"/>
                <a:cs typeface="Verdana"/>
              </a:rPr>
              <a:t>bộ.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71500" y="4429125"/>
            <a:ext cx="8001000" cy="10160"/>
          </a:xfrm>
          <a:custGeom>
            <a:avLst/>
            <a:gdLst/>
            <a:ahLst/>
            <a:cxnLst/>
            <a:rect l="l" t="t" r="r" b="b"/>
            <a:pathLst>
              <a:path w="8001000" h="10160">
                <a:moveTo>
                  <a:pt x="8000999" y="9599"/>
                </a:moveTo>
                <a:lnTo>
                  <a:pt x="0" y="9599"/>
                </a:lnTo>
                <a:lnTo>
                  <a:pt x="0" y="0"/>
                </a:lnTo>
                <a:lnTo>
                  <a:pt x="8000999" y="0"/>
                </a:lnTo>
                <a:lnTo>
                  <a:pt x="8000999" y="9599"/>
                </a:lnTo>
                <a:close/>
              </a:path>
            </a:pathLst>
          </a:custGeom>
          <a:solidFill>
            <a:srgbClr val="E0E0E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5"/>
              </a:spcBef>
            </a:pPr>
            <a:r>
              <a:rPr dirty="0"/>
              <a:t>KHỐI</a:t>
            </a:r>
            <a:r>
              <a:rPr spc="-25" dirty="0"/>
              <a:t> </a:t>
            </a:r>
            <a:r>
              <a:rPr dirty="0"/>
              <a:t>AN</a:t>
            </a:r>
            <a:r>
              <a:rPr spc="-20" dirty="0"/>
              <a:t> </a:t>
            </a:r>
            <a:r>
              <a:rPr dirty="0"/>
              <a:t>NINH</a:t>
            </a:r>
            <a:r>
              <a:rPr spc="-25" dirty="0"/>
              <a:t> </a:t>
            </a:r>
            <a:r>
              <a:rPr dirty="0"/>
              <a:t>CƠ</a:t>
            </a:r>
            <a:r>
              <a:rPr spc="-20" dirty="0"/>
              <a:t> </a:t>
            </a:r>
            <a:r>
              <a:rPr dirty="0"/>
              <a:t>SỞ</a:t>
            </a:r>
            <a:r>
              <a:rPr spc="-20" dirty="0"/>
              <a:t> </a:t>
            </a:r>
            <a:r>
              <a:rPr dirty="0"/>
              <a:t>VÀ</a:t>
            </a:r>
            <a:r>
              <a:rPr spc="-25" dirty="0"/>
              <a:t> </a:t>
            </a:r>
            <a:r>
              <a:rPr dirty="0"/>
              <a:t>KIỂM</a:t>
            </a:r>
            <a:r>
              <a:rPr spc="-20" dirty="0"/>
              <a:t> </a:t>
            </a:r>
            <a:r>
              <a:rPr dirty="0"/>
              <a:t>SOÁT</a:t>
            </a:r>
            <a:r>
              <a:rPr spc="-25" dirty="0"/>
              <a:t> </a:t>
            </a:r>
            <a:r>
              <a:rPr dirty="0"/>
              <a:t>TUÂN</a:t>
            </a:r>
            <a:r>
              <a:rPr spc="-20" dirty="0"/>
              <a:t> </a:t>
            </a:r>
            <a:r>
              <a:rPr spc="-25" dirty="0"/>
              <a:t>THỦ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T05/2026</a:t>
            </a:r>
          </a:p>
        </p:txBody>
      </p:sp>
      <p:pic>
        <p:nvPicPr>
          <p:cNvPr id="20" name="object 2">
            <a:extLst>
              <a:ext uri="{FF2B5EF4-FFF2-40B4-BE49-F238E27FC236}">
                <a16:creationId xmlns:a16="http://schemas.microsoft.com/office/drawing/2014/main" id="{CF2B5BB3-2049-2978-7276-0EAAAB34E09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1000" y="238309"/>
            <a:ext cx="2355130" cy="3664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Trân</a:t>
            </a:r>
            <a:r>
              <a:rPr spc="-95" dirty="0"/>
              <a:t> </a:t>
            </a:r>
            <a:r>
              <a:rPr dirty="0"/>
              <a:t>tr</a:t>
            </a:r>
            <a:r>
              <a:rPr dirty="0">
                <a:latin typeface="Times New Roman"/>
                <a:cs typeface="Times New Roman"/>
              </a:rPr>
              <a:t>ọ</a:t>
            </a:r>
            <a:r>
              <a:rPr dirty="0"/>
              <a:t>ng</a:t>
            </a:r>
            <a:r>
              <a:rPr spc="-95" dirty="0"/>
              <a:t> </a:t>
            </a:r>
            <a:r>
              <a:rPr dirty="0"/>
              <a:t>c</a:t>
            </a:r>
            <a:r>
              <a:rPr dirty="0">
                <a:latin typeface="Times New Roman"/>
                <a:cs typeface="Times New Roman"/>
              </a:rPr>
              <a:t>ả</a:t>
            </a:r>
            <a:r>
              <a:rPr dirty="0"/>
              <a:t>m</a:t>
            </a:r>
            <a:r>
              <a:rPr spc="-95" dirty="0"/>
              <a:t> </a:t>
            </a:r>
            <a:r>
              <a:rPr spc="-25" dirty="0">
                <a:latin typeface="Times New Roman"/>
                <a:cs typeface="Times New Roman"/>
              </a:rPr>
              <a:t>ơ</a:t>
            </a:r>
            <a:r>
              <a:rPr spc="-25" dirty="0"/>
              <a:t>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</TotalTime>
  <Words>1138</Words>
  <Application>Microsoft Office PowerPoint</Application>
  <PresentationFormat>On-screen Show (16:9)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Cambria</vt:lpstr>
      <vt:lpstr>Microsoft Sans Serif</vt:lpstr>
      <vt:lpstr>Times New Roman</vt:lpstr>
      <vt:lpstr>Verdana</vt:lpstr>
      <vt:lpstr>Office Theme</vt:lpstr>
      <vt:lpstr>Phân tích rủi ro quy trình mở mới cửa hàng</vt:lpstr>
      <vt:lpstr>GIAI ĐOẠN 1: TÌM KIẾM &amp; THẨM ĐỊNH MẶT BẰNG</vt:lpstr>
      <vt:lpstr>GIAI ĐOẠN 1: TÌM KIẾM &amp; THẨM ĐỊNH MẶT BẰNG</vt:lpstr>
      <vt:lpstr>GIAI ĐOẠN 1: TÌM KIẾM &amp; THẨM ĐỊNH MẶT BẰNG</vt:lpstr>
      <vt:lpstr>GIAI ĐOẠN 1: TÌM KIẾM &amp; THẨM ĐỊNH MẶT BẰNG</vt:lpstr>
      <vt:lpstr>GIAI ĐOẠN 2: THIẾT KẾ &amp; LẬP DỰ TOÁN (BOQ)</vt:lpstr>
      <vt:lpstr>GIAI ĐOẠN 2: THIẾT KẾ &amp; LẬP DỰ TOÁN (BOQ)</vt:lpstr>
      <vt:lpstr>GIAI ĐOẠN 3: LỰA CHỌN NHÀ THẦU (MPO)</vt:lpstr>
      <vt:lpstr>GIAI ĐOẠN 3: LỰA CHỌN NHÀ THẦU (MPO)</vt:lpstr>
      <vt:lpstr>GIAI ĐOẠN 4: THI CÔNG &amp; GIÁM SÁT (TRỌNG TÂM)</vt:lpstr>
      <vt:lpstr>GIAI ĐOẠN 4: THI CÔNG &amp; GIÁM SÁT (TRỌNG TÂM)</vt:lpstr>
      <vt:lpstr>GIAI ĐOẠN 4: THI CÔNG &amp; GIÁM SÁT (TRỌNG TÂM)</vt:lpstr>
      <vt:lpstr>GIAI ĐOẠN 5: NGHIỆM THU &amp; QUYẾT TOÁN</vt:lpstr>
      <vt:lpstr>GIAI ĐOẠN 5: NGHIỆM THU &amp; QUYẾT TOÁN</vt:lpstr>
      <vt:lpstr>Trân trọng cảm ơn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KSTT_Hướng dẫn trình bày slide_</dc:title>
  <cp:lastModifiedBy>Nguyễn Anh Tuấn (SSC-ANCS&amp;KSTT-MB)</cp:lastModifiedBy>
  <cp:revision>13</cp:revision>
  <dcterms:created xsi:type="dcterms:W3CDTF">2026-05-13T04:40:56Z</dcterms:created>
  <dcterms:modified xsi:type="dcterms:W3CDTF">2026-05-13T05:35:28Z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2026-05-13T00:00:00Z</vt:filetime>
  </property>
  <property fmtid="{D5CDD505-2E9C-101B-9397-08002B2CF9AE}" pid="3" name="Creator">
    <vt:lpwstr>Google</vt:lpwstr>
  </property>
  <property fmtid="{D5CDD505-2E9C-101B-9397-08002B2CF9AE}" pid="4" name="LastSaved">
    <vt:filetime>2026-05-13T00:00:00Z</vt:filetime>
  </property>
</Properties>
</file>